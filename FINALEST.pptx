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9"/>
  </p:notesMasterIdLst>
  <p:sldIdLst>
    <p:sldId id="256" r:id="rId5"/>
    <p:sldId id="258" r:id="rId6"/>
    <p:sldId id="260" r:id="rId7"/>
    <p:sldId id="263" r:id="rId8"/>
    <p:sldId id="261" r:id="rId9"/>
    <p:sldId id="264" r:id="rId10"/>
    <p:sldId id="265" r:id="rId11"/>
    <p:sldId id="266" r:id="rId12"/>
    <p:sldId id="271" r:id="rId13"/>
    <p:sldId id="268" r:id="rId14"/>
    <p:sldId id="269" r:id="rId15"/>
    <p:sldId id="267" r:id="rId16"/>
    <p:sldId id="270" r:id="rId17"/>
    <p:sldId id="262"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CE5A3F-FDA1-46C1-9C48-705AF0E73451}">
  <a:tblStyle styleId="{69CE5A3F-FDA1-46C1-9C48-705AF0E73451}"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78" d="100"/>
          <a:sy n="78" d="100"/>
        </p:scale>
        <p:origin x="1555"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12" name="Google Shape;12;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536633"/>
            <a:ext cx="3999900" cy="45552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536633"/>
            <a:ext cx="3999900" cy="45552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852800"/>
            <a:ext cx="2808000" cy="4239300"/>
          </a:xfrm>
          <a:prstGeom prst="rect">
            <a:avLst/>
          </a:prstGeom>
          <a:noFill/>
          <a:ln>
            <a:noFill/>
          </a:ln>
        </p:spPr>
        <p:txBody>
          <a:bodyPr spcFirstLastPara="1" wrap="square" lIns="91425" tIns="91425" rIns="91425" bIns="91425" anchor="ctr"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3737433"/>
            <a:ext cx="4045200" cy="1646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965433"/>
            <a:ext cx="3837000" cy="49269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41" name="Google Shape;41;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5640767"/>
            <a:ext cx="5998800" cy="8067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a:lvl1pPr>
          </a:lstStyle>
          <a:p>
            <a:endParaRPr/>
          </a:p>
        </p:txBody>
      </p:sp>
      <p:sp>
        <p:nvSpPr>
          <p:cNvPr id="44" name="Google Shape;44;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245225"/>
            <a:ext cx="2133600" cy="476250"/>
          </a:xfrm>
          <a:prstGeom prst="rect">
            <a:avLst/>
          </a:prstGeom>
        </p:spPr>
        <p:txBody>
          <a:bodyPr/>
          <a:lstStyle>
            <a:lvl1pPr>
              <a:defRPr/>
            </a:lvl1pPr>
          </a:lstStyle>
          <a:p>
            <a:r>
              <a:rPr lang="en-US"/>
              <a:t>23/04/2018</a:t>
            </a:r>
          </a:p>
        </p:txBody>
      </p:sp>
      <p:sp>
        <p:nvSpPr>
          <p:cNvPr id="5" name="Footer Placeholder 4"/>
          <p:cNvSpPr>
            <a:spLocks noGrp="1"/>
          </p:cNvSpPr>
          <p:nvPr>
            <p:ph type="ftr" sz="quarter" idx="11"/>
          </p:nvPr>
        </p:nvSpPr>
        <p:spPr>
          <a:xfrm>
            <a:off x="3124200" y="6245225"/>
            <a:ext cx="2895600" cy="476250"/>
          </a:xfrm>
          <a:prstGeom prst="rect">
            <a:avLst/>
          </a:prstGeom>
        </p:spPr>
        <p:txBody>
          <a:bodyPr/>
          <a:lstStyle>
            <a:lvl1pPr>
              <a:defRPr/>
            </a:lvl1pPr>
          </a:lstStyle>
          <a:p>
            <a:r>
              <a:rPr lang="en-US"/>
              <a:t>Department Of Computer Engg.</a:t>
            </a:r>
          </a:p>
        </p:txBody>
      </p:sp>
      <p:sp>
        <p:nvSpPr>
          <p:cNvPr id="6" name="Slide Number Placeholder 5"/>
          <p:cNvSpPr>
            <a:spLocks noGrp="1"/>
          </p:cNvSpPr>
          <p:nvPr>
            <p:ph type="sldNum" sz="quarter" idx="12"/>
          </p:nvPr>
        </p:nvSpPr>
        <p:spPr/>
        <p:txBody>
          <a:bodyPr/>
          <a:lstStyle>
            <a:lvl1pPr>
              <a:defRPr/>
            </a:lvl1pPr>
          </a:lstStyle>
          <a:p>
            <a:fld id="{DB8F001F-BD0A-4A1E-A4B7-0CFB6AE101E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r>
              <a:rPr lang="en-US" sz="1100" b="1" baseline="0" dirty="0">
                <a:solidFill>
                  <a:srgbClr val="000000"/>
                </a:solidFill>
                <a:latin typeface="Times New Roman"/>
              </a:rPr>
              <a:t>Web Design Lab 	</a:t>
            </a:r>
          </a:p>
        </p:txBody>
      </p:sp>
      <p:sp>
        <p:nvSpPr>
          <p:cNvPr id="7" name="Google Shape;7;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 name="Picture 4" descr="A picture containing food&#10;&#10;Description automatically generated">
            <a:extLst>
              <a:ext uri="{FF2B5EF4-FFF2-40B4-BE49-F238E27FC236}">
                <a16:creationId xmlns:a16="http://schemas.microsoft.com/office/drawing/2014/main" id="{914E3FB3-7D52-4D52-90AA-69F5CF6DAD29}"/>
              </a:ext>
            </a:extLst>
          </p:cNvPr>
          <p:cNvPicPr>
            <a:picLocks noChangeAspect="1"/>
          </p:cNvPicPr>
          <p:nvPr userDrawn="1"/>
        </p:nvPicPr>
        <p:blipFill>
          <a:blip r:embed="rId10"/>
          <a:stretch>
            <a:fillRect/>
          </a:stretch>
        </p:blipFill>
        <p:spPr>
          <a:xfrm>
            <a:off x="122842" y="6088378"/>
            <a:ext cx="1319592" cy="653944"/>
          </a:xfrm>
          <a:prstGeom prst="rect">
            <a:avLst/>
          </a:prstGeom>
        </p:spPr>
      </p:pic>
      <p:sp>
        <p:nvSpPr>
          <p:cNvPr id="8" name="TextBox 7">
            <a:extLst>
              <a:ext uri="{FF2B5EF4-FFF2-40B4-BE49-F238E27FC236}">
                <a16:creationId xmlns:a16="http://schemas.microsoft.com/office/drawing/2014/main" id="{D7FB37A1-29FF-4425-8393-79A9BBB15B85}"/>
              </a:ext>
            </a:extLst>
          </p:cNvPr>
          <p:cNvSpPr txBox="1"/>
          <p:nvPr userDrawn="1"/>
        </p:nvSpPr>
        <p:spPr>
          <a:xfrm>
            <a:off x="4085328" y="6496101"/>
            <a:ext cx="2332690" cy="246221"/>
          </a:xfrm>
          <a:prstGeom prst="rect">
            <a:avLst/>
          </a:prstGeom>
          <a:noFill/>
        </p:spPr>
        <p:txBody>
          <a:bodyPr wrap="none" rtlCol="0">
            <a:spAutoFit/>
          </a:bodyPr>
          <a:lstStyle/>
          <a:p>
            <a:r>
              <a:rPr lang="en-IN" sz="1000" dirty="0">
                <a:solidFill>
                  <a:schemeClr val="bg1">
                    <a:lumMod val="50000"/>
                  </a:schemeClr>
                </a:solidFill>
              </a:rPr>
              <a:t>Department Of Computer Engineering</a:t>
            </a: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60" r:id="rId8"/>
  </p:sldLayoutIdLst>
  <p:hf hdr="0" ftr="0" dt="0"/>
  <p:txStyles>
    <p:title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lang="en-US" sz="2800" b="1" i="0" u="none" strike="noStrike" cap="none" baseline="0" smtClean="0">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3390/agriculture13091671" TargetMode="External"/><Relationship Id="rId2" Type="http://schemas.openxmlformats.org/officeDocument/2006/relationships/hyperlink" Target="https://doi.org/10.1016/j.atech.2022.100009" TargetMode="External"/><Relationship Id="rId1" Type="http://schemas.openxmlformats.org/officeDocument/2006/relationships/slideLayout" Target="../slideLayouts/slideLayout8.xml"/><Relationship Id="rId4" Type="http://schemas.openxmlformats.org/officeDocument/2006/relationships/hyperlink" Target="https://doi.org/10.1038/s41598-025-05103-z"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8.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hyperlink" Target="https://openweathermap.org/guide" TargetMode="External"/><Relationship Id="rId3" Type="http://schemas.openxmlformats.org/officeDocument/2006/relationships/hyperlink" Target="https://doi.org/10.3390/agriculture13091671" TargetMode="External"/><Relationship Id="rId7" Type="http://schemas.openxmlformats.org/officeDocument/2006/relationships/hyperlink" Target="https://www.tensorflow.org/api_docs" TargetMode="External"/><Relationship Id="rId2" Type="http://schemas.openxmlformats.org/officeDocument/2006/relationships/hyperlink" Target="https://doi.org/10.1016/j.atech.2022.100009" TargetMode="External"/><Relationship Id="rId1" Type="http://schemas.openxmlformats.org/officeDocument/2006/relationships/slideLayout" Target="../slideLayouts/slideLayout8.xml"/><Relationship Id="rId6" Type="http://schemas.openxmlformats.org/officeDocument/2006/relationships/hyperlink" Target="https://scikit-learn.org/" TargetMode="External"/><Relationship Id="rId5" Type="http://schemas.openxmlformats.org/officeDocument/2006/relationships/hyperlink" Target="https://www.enam.gov.in/" TargetMode="External"/><Relationship Id="rId4" Type="http://schemas.openxmlformats.org/officeDocument/2006/relationships/hyperlink" Target="https://doi.org/10.1038/s41598-025-05103-z" TargetMode="External"/><Relationship Id="rId9" Type="http://schemas.openxmlformats.org/officeDocument/2006/relationships/hyperlink" Target="https://www.youtube.com/watch?v=_UqmgHKdnt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311700" y="436850"/>
            <a:ext cx="8520600" cy="1407715"/>
          </a:xfrm>
          <a:prstGeom prst="rect">
            <a:avLst/>
          </a:prstGeom>
        </p:spPr>
        <p:txBody>
          <a:bodyPr spcFirstLastPara="1" wrap="square" lIns="91425" tIns="91425" rIns="91425" bIns="91425" anchor="b" anchorCtr="0">
            <a:noAutofit/>
          </a:bodyPr>
          <a:lstStyle/>
          <a:p>
            <a:pPr lvl="0">
              <a:lnSpc>
                <a:spcPct val="300000"/>
              </a:lnSpc>
            </a:pPr>
            <a:r>
              <a:rPr lang="en-US" sz="4800" dirty="0">
                <a:latin typeface="Times New Roman" panose="02020603050405020304" pitchFamily="18" charset="0"/>
                <a:cs typeface="Times New Roman" panose="02020603050405020304" pitchFamily="18" charset="0"/>
              </a:rPr>
              <a:t>MAHAKRISHI</a:t>
            </a:r>
            <a:endParaRPr sz="4800" dirty="0">
              <a:latin typeface="Times New Roman" panose="02020603050405020304" pitchFamily="18" charset="0"/>
              <a:cs typeface="Times New Roman" panose="02020603050405020304" pitchFamily="18" charset="0"/>
            </a:endParaRPr>
          </a:p>
        </p:txBody>
      </p:sp>
      <p:sp>
        <p:nvSpPr>
          <p:cNvPr id="56" name="Google Shape;56;p13"/>
          <p:cNvSpPr txBox="1">
            <a:spLocks noGrp="1"/>
          </p:cNvSpPr>
          <p:nvPr>
            <p:ph type="subTitle" idx="1"/>
          </p:nvPr>
        </p:nvSpPr>
        <p:spPr>
          <a:xfrm>
            <a:off x="311700" y="2817987"/>
            <a:ext cx="8709458" cy="3041836"/>
          </a:xfrm>
          <a:prstGeom prst="rect">
            <a:avLst/>
          </a:prstGeom>
        </p:spPr>
        <p:txBody>
          <a:bodyPr spcFirstLastPara="1" wrap="square" lIns="91425" tIns="91425" rIns="91425" bIns="91425" anchor="ctr" anchorCtr="0">
            <a:noAutofit/>
          </a:bodyPr>
          <a:lstStyle/>
          <a:p>
            <a:pPr marL="342900" lvl="0" indent="-342900" algn="l">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Atharva Parulekar                     -123A1084</a:t>
            </a:r>
          </a:p>
          <a:p>
            <a:pPr marL="342900" lvl="0" indent="-342900" algn="l">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Vivek Patil                                   -123A1087</a:t>
            </a:r>
          </a:p>
          <a:p>
            <a:pPr marL="342900" lvl="0" indent="-342900" algn="l">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Dev Sharma                                 -123A1108</a:t>
            </a:r>
          </a:p>
          <a:p>
            <a:pPr marL="342900" lvl="0" indent="-342900" algn="l">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Vignesh Narayanan                     -123A1122</a:t>
            </a:r>
          </a:p>
          <a:p>
            <a:pPr lvl="0" algn="l"/>
            <a:endParaRPr lang="en-IN" sz="2400" dirty="0"/>
          </a:p>
          <a:p>
            <a:pPr lvl="0"/>
            <a:endParaRPr lang="en-IN" sz="1400" dirty="0"/>
          </a:p>
          <a:p>
            <a:pPr lvl="0"/>
            <a:endParaRPr lang="en-IN" sz="1400" dirty="0"/>
          </a:p>
          <a:p>
            <a:pPr lvl="0"/>
            <a:endParaRPr lang="en-IN" sz="1400" dirty="0"/>
          </a:p>
          <a:p>
            <a:pPr lvl="0"/>
            <a:endParaRPr lang="en-IN" sz="1400" dirty="0"/>
          </a:p>
          <a:p>
            <a:pPr lvl="0"/>
            <a:endParaRPr lang="en-IN" sz="1400" dirty="0"/>
          </a:p>
          <a:p>
            <a:pPr lvl="0" algn="r"/>
            <a:r>
              <a:rPr lang="en-IN" sz="1400"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Project  Guide: Prachi </a:t>
            </a:r>
            <a:r>
              <a:rPr lang="en-IN" sz="2400" b="1" u="sng" dirty="0" err="1">
                <a:latin typeface="Times New Roman" panose="02020603050405020304" pitchFamily="18" charset="0"/>
                <a:cs typeface="Times New Roman" panose="02020603050405020304" pitchFamily="18" charset="0"/>
              </a:rPr>
              <a:t>Sahane</a:t>
            </a:r>
            <a:endParaRPr lang="en-IN" sz="2400" b="1" u="sng"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CEDE995-1943-4164-B1BE-C25A240B35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a:t>
            </a:fld>
            <a:endParaRPr lang="e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9D5F101-BAD4-4947-AE11-0B0707C4ABAD}" type="slidenum">
              <a:rPr lang="en-US"/>
              <a:pPr/>
              <a:t>2</a:t>
            </a:fld>
            <a:endParaRPr lang="en-US"/>
          </a:p>
        </p:txBody>
      </p:sp>
      <p:sp>
        <p:nvSpPr>
          <p:cNvPr id="21506" name="Rectangle 2"/>
          <p:cNvSpPr>
            <a:spLocks noGrp="1" noChangeArrowheads="1"/>
          </p:cNvSpPr>
          <p:nvPr>
            <p:ph type="title"/>
          </p:nvPr>
        </p:nvSpPr>
        <p:spPr>
          <a:xfrm>
            <a:off x="226208" y="115678"/>
            <a:ext cx="8520600" cy="763500"/>
          </a:xfrm>
        </p:spPr>
        <p:txBody>
          <a:bodyPr/>
          <a:lstStyle/>
          <a:p>
            <a:r>
              <a:rPr lang="en-US" sz="4800" dirty="0">
                <a:latin typeface="Times New Roman" panose="02020603050405020304" pitchFamily="18" charset="0"/>
                <a:cs typeface="Times New Roman" panose="02020603050405020304" pitchFamily="18" charset="0"/>
              </a:rPr>
              <a:t>Introduction</a:t>
            </a:r>
            <a:r>
              <a:rPr lang="en-US" sz="4800" dirty="0">
                <a:latin typeface="Aharoni" panose="02010803020104030203" pitchFamily="2" charset="-79"/>
                <a:cs typeface="Aharoni" panose="02010803020104030203" pitchFamily="2" charset="-79"/>
              </a:rPr>
              <a:t>:</a:t>
            </a:r>
            <a:endParaRPr lang="en-US" sz="3200" dirty="0">
              <a:latin typeface="Aharoni" panose="02010803020104030203" pitchFamily="2" charset="-79"/>
              <a:cs typeface="Aharoni" panose="02010803020104030203" pitchFamily="2" charset="-79"/>
            </a:endParaRPr>
          </a:p>
        </p:txBody>
      </p:sp>
      <p:sp>
        <p:nvSpPr>
          <p:cNvPr id="5" name="Rectangle 2">
            <a:extLst>
              <a:ext uri="{FF2B5EF4-FFF2-40B4-BE49-F238E27FC236}">
                <a16:creationId xmlns:a16="http://schemas.microsoft.com/office/drawing/2014/main" id="{96A15964-F4EC-20EF-9C00-094C7C6DA229}"/>
              </a:ext>
            </a:extLst>
          </p:cNvPr>
          <p:cNvSpPr>
            <a:spLocks noGrp="1" noChangeArrowheads="1"/>
          </p:cNvSpPr>
          <p:nvPr>
            <p:ph type="body" idx="1"/>
          </p:nvPr>
        </p:nvSpPr>
        <p:spPr bwMode="auto">
          <a:xfrm>
            <a:off x="0" y="963077"/>
            <a:ext cx="91440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latin typeface="Times New Roman" panose="02020603050405020304" pitchFamily="18" charset="0"/>
                <a:cs typeface="Times New Roman" panose="02020603050405020304" pitchFamily="18" charset="0"/>
              </a:rPr>
              <a:t>The </a:t>
            </a:r>
            <a:r>
              <a:rPr lang="en-US" sz="2200" b="1" dirty="0" err="1">
                <a:latin typeface="Times New Roman" panose="02020603050405020304" pitchFamily="18" charset="0"/>
                <a:cs typeface="Times New Roman" panose="02020603050405020304" pitchFamily="18" charset="0"/>
              </a:rPr>
              <a:t>MahaKrishi</a:t>
            </a:r>
            <a:r>
              <a:rPr lang="en-US" sz="2200" dirty="0">
                <a:latin typeface="Times New Roman" panose="02020603050405020304" pitchFamily="18" charset="0"/>
                <a:cs typeface="Times New Roman" panose="02020603050405020304" pitchFamily="18" charset="0"/>
              </a:rPr>
              <a:t> project is a </a:t>
            </a:r>
            <a:r>
              <a:rPr lang="en-US" sz="2200" b="1" dirty="0">
                <a:latin typeface="Times New Roman" panose="02020603050405020304" pitchFamily="18" charset="0"/>
                <a:cs typeface="Times New Roman" panose="02020603050405020304" pitchFamily="18" charset="0"/>
              </a:rPr>
              <a:t>web-based platform</a:t>
            </a:r>
            <a:r>
              <a:rPr lang="en-US" sz="2200" dirty="0">
                <a:latin typeface="Times New Roman" panose="02020603050405020304" pitchFamily="18" charset="0"/>
                <a:cs typeface="Times New Roman" panose="02020603050405020304" pitchFamily="18" charset="0"/>
              </a:rPr>
              <a:t> designed to consolidate and provide key agricultural information to farmers in Maharashtra, ultimately aiming to simplify access to relevant data for basic operational decisions.</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The system integrates five core functional modules—</a:t>
            </a:r>
            <a:r>
              <a:rPr lang="en-US" sz="2200" b="1" dirty="0">
                <a:latin typeface="Times New Roman" panose="02020603050405020304" pitchFamily="18" charset="0"/>
                <a:cs typeface="Times New Roman" panose="02020603050405020304" pitchFamily="18" charset="0"/>
              </a:rPr>
              <a:t>Dashboard</a:t>
            </a:r>
            <a:r>
              <a:rPr lang="en-US" sz="2200" dirty="0">
                <a:latin typeface="Times New Roman" panose="02020603050405020304" pitchFamily="18" charset="0"/>
                <a:cs typeface="Times New Roman" panose="02020603050405020304" pitchFamily="18" charset="0"/>
              </a:rPr>
              <a:t> (weather/suggestions), </a:t>
            </a:r>
            <a:r>
              <a:rPr lang="en-US" sz="2200" b="1" dirty="0">
                <a:latin typeface="Times New Roman" panose="02020603050405020304" pitchFamily="18" charset="0"/>
                <a:cs typeface="Times New Roman" panose="02020603050405020304" pitchFamily="18" charset="0"/>
              </a:rPr>
              <a:t>Crop Recommendation</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Pest Detection</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Market Prices</a:t>
            </a:r>
            <a:r>
              <a:rPr lang="en-US" sz="2200" dirty="0">
                <a:latin typeface="Times New Roman" panose="02020603050405020304" pitchFamily="18" charset="0"/>
                <a:cs typeface="Times New Roman" panose="02020603050405020304" pitchFamily="18" charset="0"/>
              </a:rPr>
              <a:t>, and a </a:t>
            </a:r>
            <a:r>
              <a:rPr lang="en-US" sz="2200" b="1" dirty="0">
                <a:latin typeface="Times New Roman" panose="02020603050405020304" pitchFamily="18" charset="0"/>
                <a:cs typeface="Times New Roman" panose="02020603050405020304" pitchFamily="18" charset="0"/>
              </a:rPr>
              <a:t>Chatbot</a:t>
            </a:r>
            <a:r>
              <a:rPr lang="en-US" sz="2200" dirty="0">
                <a:latin typeface="Times New Roman" panose="02020603050405020304" pitchFamily="18" charset="0"/>
                <a:cs typeface="Times New Roman" panose="02020603050405020304" pitchFamily="18" charset="0"/>
              </a:rPr>
              <a:t>—into a single interface. </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These modules are powered by functional techniques: </a:t>
            </a:r>
            <a:r>
              <a:rPr lang="en-US" sz="2200" b="1" dirty="0">
                <a:latin typeface="Times New Roman" panose="02020603050405020304" pitchFamily="18" charset="0"/>
                <a:cs typeface="Times New Roman" panose="02020603050405020304" pitchFamily="18" charset="0"/>
              </a:rPr>
              <a:t>Machine Learning (ML)</a:t>
            </a:r>
            <a:r>
              <a:rPr lang="en-US" sz="2200" dirty="0">
                <a:latin typeface="Times New Roman" panose="02020603050405020304" pitchFamily="18" charset="0"/>
                <a:cs typeface="Times New Roman" panose="02020603050405020304" pitchFamily="18" charset="0"/>
              </a:rPr>
              <a:t> for crop matching, </a:t>
            </a:r>
            <a:r>
              <a:rPr lang="en-US" sz="2200" b="1" dirty="0">
                <a:latin typeface="Times New Roman" panose="02020603050405020304" pitchFamily="18" charset="0"/>
                <a:cs typeface="Times New Roman" panose="02020603050405020304" pitchFamily="18" charset="0"/>
              </a:rPr>
              <a:t>Image Processing</a:t>
            </a:r>
            <a:r>
              <a:rPr lang="en-US" sz="2200" dirty="0">
                <a:latin typeface="Times New Roman" panose="02020603050405020304" pitchFamily="18" charset="0"/>
                <a:cs typeface="Times New Roman" panose="02020603050405020304" pitchFamily="18" charset="0"/>
              </a:rPr>
              <a:t> for pest identification, </a:t>
            </a:r>
            <a:r>
              <a:rPr lang="en-US" sz="2200" b="1" dirty="0">
                <a:latin typeface="Times New Roman" panose="02020603050405020304" pitchFamily="18" charset="0"/>
                <a:cs typeface="Times New Roman" panose="02020603050405020304" pitchFamily="18" charset="0"/>
              </a:rPr>
              <a:t>API Integration</a:t>
            </a:r>
            <a:r>
              <a:rPr lang="en-US" sz="2200" dirty="0">
                <a:latin typeface="Times New Roman" panose="02020603050405020304" pitchFamily="18" charset="0"/>
                <a:cs typeface="Times New Roman" panose="02020603050405020304" pitchFamily="18" charset="0"/>
              </a:rPr>
              <a:t> for weather data, and </a:t>
            </a:r>
            <a:r>
              <a:rPr lang="en-US" sz="2200" b="1" dirty="0">
                <a:latin typeface="Times New Roman" panose="02020603050405020304" pitchFamily="18" charset="0"/>
                <a:cs typeface="Times New Roman" panose="02020603050405020304" pitchFamily="18" charset="0"/>
              </a:rPr>
              <a:t>Conversational Logic</a:t>
            </a:r>
            <a:r>
              <a:rPr lang="en-US" sz="2200" dirty="0">
                <a:latin typeface="Times New Roman" panose="02020603050405020304" pitchFamily="18" charset="0"/>
                <a:cs typeface="Times New Roman" panose="02020603050405020304" pitchFamily="18" charset="0"/>
              </a:rPr>
              <a:t> for text queries. </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This centralized access helps farmers to </a:t>
            </a:r>
            <a:r>
              <a:rPr lang="en-US" sz="2200" b="1" dirty="0">
                <a:latin typeface="Times New Roman" panose="02020603050405020304" pitchFamily="18" charset="0"/>
                <a:cs typeface="Times New Roman" panose="02020603050405020304" pitchFamily="18" charset="0"/>
              </a:rPr>
              <a:t>streamline planning</a:t>
            </a:r>
            <a:r>
              <a:rPr lang="en-US" sz="2200" dirty="0">
                <a:latin typeface="Times New Roman" panose="02020603050405020304" pitchFamily="18" charset="0"/>
                <a:cs typeface="Times New Roman" panose="02020603050405020304" pitchFamily="18" charset="0"/>
              </a:rPr>
              <a:t> by quickly checking options, </a:t>
            </a:r>
            <a:r>
              <a:rPr lang="en-US" sz="2200" b="1" dirty="0">
                <a:latin typeface="Times New Roman" panose="02020603050405020304" pitchFamily="18" charset="0"/>
                <a:cs typeface="Times New Roman" panose="02020603050405020304" pitchFamily="18" charset="0"/>
              </a:rPr>
              <a:t>aid diagnostics</a:t>
            </a:r>
            <a:r>
              <a:rPr lang="en-US" sz="2200" dirty="0">
                <a:latin typeface="Times New Roman" panose="02020603050405020304" pitchFamily="18" charset="0"/>
                <a:cs typeface="Times New Roman" panose="02020603050405020304" pitchFamily="18" charset="0"/>
              </a:rPr>
              <a:t> through automated pest detection, and </a:t>
            </a:r>
            <a:r>
              <a:rPr lang="en-US" sz="2200" b="1" dirty="0">
                <a:latin typeface="Times New Roman" panose="02020603050405020304" pitchFamily="18" charset="0"/>
                <a:cs typeface="Times New Roman" panose="02020603050405020304" pitchFamily="18" charset="0"/>
              </a:rPr>
              <a:t>support sales</a:t>
            </a:r>
            <a:r>
              <a:rPr lang="en-US" sz="2200" dirty="0">
                <a:latin typeface="Times New Roman" panose="02020603050405020304" pitchFamily="18" charset="0"/>
                <a:cs typeface="Times New Roman" panose="02020603050405020304" pitchFamily="18" charset="0"/>
              </a:rPr>
              <a:t> by providing basic market price information.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0C797CC-733C-4B0E-9DE7-49C1A66F2091}" type="slidenum">
              <a:rPr lang="en-US"/>
              <a:pPr/>
              <a:t>3</a:t>
            </a:fld>
            <a:endParaRPr lang="en-US"/>
          </a:p>
        </p:txBody>
      </p:sp>
      <p:sp>
        <p:nvSpPr>
          <p:cNvPr id="24578" name="Rectangle 2"/>
          <p:cNvSpPr>
            <a:spLocks noGrp="1" noChangeArrowheads="1"/>
          </p:cNvSpPr>
          <p:nvPr>
            <p:ph type="title"/>
          </p:nvPr>
        </p:nvSpPr>
        <p:spPr>
          <a:xfrm>
            <a:off x="226208" y="235148"/>
            <a:ext cx="8520600" cy="763500"/>
          </a:xfrm>
        </p:spPr>
        <p:txBody>
          <a:bodyPr/>
          <a:lstStyle/>
          <a:p>
            <a:r>
              <a:rPr lang="en-US" sz="4800" dirty="0">
                <a:latin typeface="Times New Roman" panose="02020603050405020304" pitchFamily="18" charset="0"/>
                <a:cs typeface="Times New Roman" panose="02020603050405020304" pitchFamily="18" charset="0"/>
              </a:rPr>
              <a:t>Motivation</a:t>
            </a:r>
            <a:r>
              <a:rPr lang="en-US" sz="4800" dirty="0">
                <a:latin typeface="Aharoni" panose="02010803020104030203" pitchFamily="2" charset="-79"/>
                <a:cs typeface="Aharoni" panose="02010803020104030203" pitchFamily="2" charset="-79"/>
              </a:rPr>
              <a:t>:</a:t>
            </a:r>
          </a:p>
        </p:txBody>
      </p:sp>
      <p:sp>
        <p:nvSpPr>
          <p:cNvPr id="24579" name="Rectangle 3"/>
          <p:cNvSpPr>
            <a:spLocks noGrp="1" noChangeArrowheads="1"/>
          </p:cNvSpPr>
          <p:nvPr>
            <p:ph type="body" idx="1"/>
          </p:nvPr>
        </p:nvSpPr>
        <p:spPr>
          <a:xfrm>
            <a:off x="371708" y="998648"/>
            <a:ext cx="8229600" cy="4525963"/>
          </a:xfrm>
        </p:spPr>
        <p:txBody>
          <a:bodyPr/>
          <a:lstStyle/>
          <a:p>
            <a:r>
              <a:rPr lang="en-US" sz="2200" b="1" dirty="0">
                <a:latin typeface="Times New Roman" panose="02020603050405020304" pitchFamily="18" charset="0"/>
                <a:cs typeface="Times New Roman" panose="02020603050405020304" pitchFamily="18" charset="0"/>
              </a:rPr>
              <a:t>Simplifying Access to Farming Information</a:t>
            </a:r>
          </a:p>
          <a:p>
            <a:r>
              <a:rPr lang="en-US" sz="2200" dirty="0">
                <a:latin typeface="Times New Roman" panose="02020603050405020304" pitchFamily="18" charset="0"/>
                <a:cs typeface="Times New Roman" panose="02020603050405020304" pitchFamily="18" charset="0"/>
              </a:rPr>
              <a:t>The project is motivated by the need for a straightforward tool that centralizes diverse agricultural data points.</a:t>
            </a:r>
          </a:p>
          <a:p>
            <a:r>
              <a:rPr lang="en-US" sz="2200" b="1" dirty="0">
                <a:latin typeface="Times New Roman" panose="02020603050405020304" pitchFamily="18" charset="0"/>
                <a:cs typeface="Times New Roman" panose="02020603050405020304" pitchFamily="18" charset="0"/>
              </a:rPr>
              <a:t>The Problem: Fragmented Data Sources</a:t>
            </a:r>
          </a:p>
          <a:p>
            <a:r>
              <a:rPr lang="en-US" sz="2200" dirty="0">
                <a:latin typeface="Times New Roman" panose="02020603050405020304" pitchFamily="18" charset="0"/>
                <a:cs typeface="Times New Roman" panose="02020603050405020304" pitchFamily="18" charset="0"/>
              </a:rPr>
              <a:t>Farmers often need to check multiple sources—separate apps for weather, expert advice, and market prices. This process is time-consuming and often involves dealing with incomplete or non-localized data.</a:t>
            </a:r>
          </a:p>
          <a:p>
            <a:r>
              <a:rPr lang="en-US" sz="2200" b="1" dirty="0">
                <a:latin typeface="Times New Roman" panose="02020603050405020304" pitchFamily="18" charset="0"/>
                <a:cs typeface="Times New Roman" panose="02020603050405020304" pitchFamily="18" charset="0"/>
              </a:rPr>
              <a:t>The Opportunity: Integrating Functional Modules</a:t>
            </a:r>
          </a:p>
          <a:p>
            <a:r>
              <a:rPr lang="en-US" sz="2200" dirty="0">
                <a:latin typeface="Times New Roman" panose="02020603050405020304" pitchFamily="18" charset="0"/>
                <a:cs typeface="Times New Roman" panose="02020603050405020304" pitchFamily="18" charset="0"/>
              </a:rPr>
              <a:t>Recent technology allows us to combine these functionalities into one easy-to-use web application.</a:t>
            </a:r>
          </a:p>
          <a:p>
            <a:r>
              <a:rPr lang="en-US" sz="2200" b="1" dirty="0">
                <a:latin typeface="Times New Roman" panose="02020603050405020304" pitchFamily="18" charset="0"/>
                <a:cs typeface="Times New Roman" panose="02020603050405020304" pitchFamily="18" charset="0"/>
              </a:rPr>
              <a:t>The Goal</a:t>
            </a:r>
            <a:r>
              <a:rPr lang="en-US" sz="2200" dirty="0">
                <a:latin typeface="Times New Roman" panose="02020603050405020304" pitchFamily="18" charset="0"/>
                <a:cs typeface="Times New Roman" panose="02020603050405020304" pitchFamily="18" charset="0"/>
              </a:rPr>
              <a:t>: To build an accessible platform that provides basic guidance and data consolidation to support day-to-day farming activities.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6AF2-F9F1-7C88-1B9F-10412384B6B7}"/>
              </a:ext>
            </a:extLst>
          </p:cNvPr>
          <p:cNvSpPr>
            <a:spLocks noGrp="1"/>
          </p:cNvSpPr>
          <p:nvPr>
            <p:ph type="title"/>
          </p:nvPr>
        </p:nvSpPr>
        <p:spPr>
          <a:xfrm>
            <a:off x="311700" y="278057"/>
            <a:ext cx="8520600" cy="763500"/>
          </a:xfrm>
        </p:spPr>
        <p:txBody>
          <a:bodyPr/>
          <a:lstStyle/>
          <a:p>
            <a:r>
              <a:rPr lang="en-US" sz="4800" dirty="0">
                <a:latin typeface="Times New Roman" panose="02020603050405020304" pitchFamily="18" charset="0"/>
                <a:cs typeface="Times New Roman" panose="02020603050405020304" pitchFamily="18" charset="0"/>
              </a:rPr>
              <a:t>Problem</a:t>
            </a:r>
            <a:r>
              <a:rPr lang="en-US" sz="4800" dirty="0"/>
              <a:t> </a:t>
            </a:r>
            <a:r>
              <a:rPr lang="en-US" sz="4800" dirty="0">
                <a:latin typeface="Times New Roman" panose="02020603050405020304" pitchFamily="18" charset="0"/>
                <a:cs typeface="Times New Roman" panose="02020603050405020304" pitchFamily="18" charset="0"/>
              </a:rPr>
              <a:t>Statement</a:t>
            </a:r>
          </a:p>
        </p:txBody>
      </p:sp>
      <p:sp>
        <p:nvSpPr>
          <p:cNvPr id="3" name="Content Placeholder 2">
            <a:extLst>
              <a:ext uri="{FF2B5EF4-FFF2-40B4-BE49-F238E27FC236}">
                <a16:creationId xmlns:a16="http://schemas.microsoft.com/office/drawing/2014/main" id="{259848A0-F2D0-E9CF-1658-7C8F835CBC3A}"/>
              </a:ext>
            </a:extLst>
          </p:cNvPr>
          <p:cNvSpPr>
            <a:spLocks noGrp="1"/>
          </p:cNvSpPr>
          <p:nvPr>
            <p:ph idx="1"/>
          </p:nvPr>
        </p:nvSpPr>
        <p:spPr>
          <a:xfrm>
            <a:off x="457200" y="1199212"/>
            <a:ext cx="8229600" cy="4860755"/>
          </a:xfrm>
        </p:spPr>
        <p:txBody>
          <a:bodyPr/>
          <a:lstStyle/>
          <a:p>
            <a:r>
              <a:rPr lang="en-US" sz="2200" dirty="0">
                <a:latin typeface="Times New Roman" panose="02020603050405020304" pitchFamily="18" charset="0"/>
                <a:cs typeface="Times New Roman" panose="02020603050405020304" pitchFamily="18" charset="0"/>
              </a:rPr>
              <a:t>The central problem addressed by the </a:t>
            </a:r>
            <a:r>
              <a:rPr lang="en-US" sz="2200" dirty="0" err="1">
                <a:latin typeface="Times New Roman" panose="02020603050405020304" pitchFamily="18" charset="0"/>
                <a:cs typeface="Times New Roman" panose="02020603050405020304" pitchFamily="18" charset="0"/>
              </a:rPr>
              <a:t>MahaKrishi</a:t>
            </a:r>
            <a:r>
              <a:rPr lang="en-US" sz="2200" dirty="0">
                <a:latin typeface="Times New Roman" panose="02020603050405020304" pitchFamily="18" charset="0"/>
                <a:cs typeface="Times New Roman" panose="02020603050405020304" pitchFamily="18" charset="0"/>
              </a:rPr>
              <a:t> project is the </a:t>
            </a:r>
            <a:r>
              <a:rPr lang="en-US" sz="2200" b="1" dirty="0">
                <a:latin typeface="Times New Roman" panose="02020603050405020304" pitchFamily="18" charset="0"/>
                <a:cs typeface="Times New Roman" panose="02020603050405020304" pitchFamily="18" charset="0"/>
              </a:rPr>
              <a:t>fragmentation of essential agricultural information</a:t>
            </a:r>
            <a:r>
              <a:rPr lang="en-US" sz="2200" dirty="0">
                <a:latin typeface="Times New Roman" panose="02020603050405020304" pitchFamily="18" charset="0"/>
                <a:cs typeface="Times New Roman" panose="02020603050405020304" pitchFamily="18" charset="0"/>
              </a:rPr>
              <a:t>, forcing farmers to consult multiple, non-integrated sources for critical decision-making. </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To solve this, the objective is to develop a unified web platform that can efficiently integrate four distinct, practical utilities: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1) a dashboard for </a:t>
            </a:r>
            <a:r>
              <a:rPr lang="en-US" sz="2200" b="1" dirty="0">
                <a:latin typeface="Times New Roman" panose="02020603050405020304" pitchFamily="18" charset="0"/>
                <a:cs typeface="Times New Roman" panose="02020603050405020304" pitchFamily="18" charset="0"/>
              </a:rPr>
              <a:t>localized weather and general crop guidance</a:t>
            </a:r>
            <a:r>
              <a:rPr lang="en-US" sz="2200" dirty="0">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2) a parameter-based system to provide a </a:t>
            </a:r>
            <a:r>
              <a:rPr lang="en-US" sz="2200" b="1" dirty="0">
                <a:latin typeface="Times New Roman" panose="02020603050405020304" pitchFamily="18" charset="0"/>
                <a:cs typeface="Times New Roman" panose="02020603050405020304" pitchFamily="18" charset="0"/>
              </a:rPr>
              <a:t>single, data-driven crop recommendation</a:t>
            </a:r>
            <a:r>
              <a:rPr lang="en-US" sz="2200" dirty="0">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3) an image tool for </a:t>
            </a:r>
            <a:r>
              <a:rPr lang="en-US" sz="2200" b="1" dirty="0">
                <a:latin typeface="Times New Roman" panose="02020603050405020304" pitchFamily="18" charset="0"/>
                <a:cs typeface="Times New Roman" panose="02020603050405020304" pitchFamily="18" charset="0"/>
              </a:rPr>
              <a:t>basic, automated pest identification</a:t>
            </a:r>
            <a:r>
              <a:rPr lang="en-US" sz="2200" dirty="0">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4) a utility for retrieving current </a:t>
            </a:r>
            <a:r>
              <a:rPr lang="en-US" sz="2200" b="1" dirty="0">
                <a:latin typeface="Times New Roman" panose="02020603050405020304" pitchFamily="18" charset="0"/>
                <a:cs typeface="Times New Roman" panose="02020603050405020304" pitchFamily="18" charset="0"/>
              </a:rPr>
              <a:t>market price information</a:t>
            </a:r>
            <a:r>
              <a:rPr lang="en-US" sz="2200" dirty="0">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The core challenge is the seamless </a:t>
            </a:r>
            <a:r>
              <a:rPr lang="en-US" sz="2200" b="1" dirty="0">
                <a:latin typeface="Times New Roman" panose="02020603050405020304" pitchFamily="18" charset="0"/>
                <a:cs typeface="Times New Roman" panose="02020603050405020304" pitchFamily="18" charset="0"/>
              </a:rPr>
              <a:t>integration and user-friendly presentation</a:t>
            </a:r>
            <a:r>
              <a:rPr lang="en-US" sz="2200" dirty="0">
                <a:latin typeface="Times New Roman" panose="02020603050405020304" pitchFamily="18" charset="0"/>
                <a:cs typeface="Times New Roman" panose="02020603050405020304" pitchFamily="18" charset="0"/>
              </a:rPr>
              <a:t> of these varied data processing and analytical tools.</a:t>
            </a:r>
            <a:endParaRPr lang="en-IN" sz="22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75783F-A104-6D85-6D7D-CF52E08DA8B2}"/>
              </a:ext>
            </a:extLst>
          </p:cNvPr>
          <p:cNvSpPr>
            <a:spLocks noGrp="1"/>
          </p:cNvSpPr>
          <p:nvPr>
            <p:ph type="sldNum" sz="quarter" idx="12"/>
          </p:nvPr>
        </p:nvSpPr>
        <p:spPr/>
        <p:txBody>
          <a:bodyPr/>
          <a:lstStyle/>
          <a:p>
            <a:fld id="{DB8F001F-BD0A-4A1E-A4B7-0CFB6AE101E0}" type="slidenum">
              <a:rPr lang="en-US" smtClean="0"/>
              <a:pPr/>
              <a:t>4</a:t>
            </a:fld>
            <a:endParaRPr lang="en-US"/>
          </a:p>
        </p:txBody>
      </p:sp>
    </p:spTree>
    <p:extLst>
      <p:ext uri="{BB962C8B-B14F-4D97-AF65-F5344CB8AC3E}">
        <p14:creationId xmlns:p14="http://schemas.microsoft.com/office/powerpoint/2010/main" val="1926801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0815F-0037-C984-4DC4-7B1B70C201C3}"/>
              </a:ext>
            </a:extLst>
          </p:cNvPr>
          <p:cNvSpPr>
            <a:spLocks noGrp="1"/>
          </p:cNvSpPr>
          <p:nvPr>
            <p:ph type="title"/>
          </p:nvPr>
        </p:nvSpPr>
        <p:spPr>
          <a:xfrm>
            <a:off x="311700" y="350087"/>
            <a:ext cx="8520600" cy="763500"/>
          </a:xfrm>
        </p:spPr>
        <p:txBody>
          <a:bodyPr/>
          <a:lstStyle/>
          <a:p>
            <a:r>
              <a:rPr lang="en-US" sz="4800" dirty="0">
                <a:latin typeface="Times New Roman" panose="02020603050405020304" pitchFamily="18" charset="0"/>
                <a:cs typeface="Times New Roman" panose="02020603050405020304" pitchFamily="18" charset="0"/>
              </a:rPr>
              <a:t>Objectives</a:t>
            </a:r>
            <a:br>
              <a:rPr lang="en-US" sz="4800" dirty="0"/>
            </a:br>
            <a:endParaRPr lang="en-IN" sz="4800" dirty="0">
              <a:latin typeface="Aharoni" panose="02010803020104030203" pitchFamily="2" charset="-79"/>
              <a:cs typeface="Aharoni" panose="02010803020104030203" pitchFamily="2" charset="-79"/>
            </a:endParaRPr>
          </a:p>
        </p:txBody>
      </p:sp>
      <p:sp>
        <p:nvSpPr>
          <p:cNvPr id="4" name="Slide Number Placeholder 3">
            <a:extLst>
              <a:ext uri="{FF2B5EF4-FFF2-40B4-BE49-F238E27FC236}">
                <a16:creationId xmlns:a16="http://schemas.microsoft.com/office/drawing/2014/main" id="{2D32776F-F732-4E3B-AD53-8E1DD1BAFE6D}"/>
              </a:ext>
            </a:extLst>
          </p:cNvPr>
          <p:cNvSpPr>
            <a:spLocks noGrp="1"/>
          </p:cNvSpPr>
          <p:nvPr>
            <p:ph type="sldNum" sz="quarter" idx="12"/>
          </p:nvPr>
        </p:nvSpPr>
        <p:spPr/>
        <p:txBody>
          <a:bodyPr/>
          <a:lstStyle/>
          <a:p>
            <a:fld id="{DB8F001F-BD0A-4A1E-A4B7-0CFB6AE101E0}" type="slidenum">
              <a:rPr lang="en-US" smtClean="0"/>
              <a:pPr/>
              <a:t>5</a:t>
            </a:fld>
            <a:endParaRPr lang="en-US"/>
          </a:p>
        </p:txBody>
      </p:sp>
      <p:sp>
        <p:nvSpPr>
          <p:cNvPr id="6" name="Rectangle 2">
            <a:extLst>
              <a:ext uri="{FF2B5EF4-FFF2-40B4-BE49-F238E27FC236}">
                <a16:creationId xmlns:a16="http://schemas.microsoft.com/office/drawing/2014/main" id="{539D7AB8-9518-997B-8748-EB9C1E5D2CD6}"/>
              </a:ext>
            </a:extLst>
          </p:cNvPr>
          <p:cNvSpPr>
            <a:spLocks noGrp="1" noChangeArrowheads="1"/>
          </p:cNvSpPr>
          <p:nvPr>
            <p:ph idx="1"/>
          </p:nvPr>
        </p:nvSpPr>
        <p:spPr bwMode="auto">
          <a:xfrm>
            <a:off x="311700" y="1449613"/>
            <a:ext cx="8326273"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is guided by key objectives that emphasize practical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set up a basic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fetches and displays current weather </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initial crop ideas based on location selection.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Crop Recommendation Model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takes </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user-defined parameters and outputs a single, predicted crop.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integrate an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Processing Utility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allows a user to upload an image and receive a pest label and a confidence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access to 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Market Price Finder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State, </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Crop, and Market selection.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include an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"Ask </a:t>
            </a: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MahaKrishi</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Chat interface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providing basic </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text-based farming information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5368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EA4C-BC3B-2494-9331-01EC0FBA0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BE93E-3001-A81F-A36F-E8FC357DC7C8}"/>
              </a:ext>
            </a:extLst>
          </p:cNvPr>
          <p:cNvSpPr>
            <a:spLocks noGrp="1"/>
          </p:cNvSpPr>
          <p:nvPr>
            <p:ph type="title"/>
          </p:nvPr>
        </p:nvSpPr>
        <p:spPr>
          <a:xfrm>
            <a:off x="307922" y="396884"/>
            <a:ext cx="8520600" cy="763500"/>
          </a:xfrm>
        </p:spPr>
        <p:txBody>
          <a:bodyPr/>
          <a:lstStyle/>
          <a:p>
            <a:r>
              <a:rPr lang="en-IN" sz="4000" dirty="0">
                <a:latin typeface="Times New Roman" panose="02020603050405020304" pitchFamily="18" charset="0"/>
                <a:cs typeface="Times New Roman" panose="02020603050405020304" pitchFamily="18" charset="0"/>
              </a:rPr>
              <a:t>Literature</a:t>
            </a:r>
            <a:r>
              <a:rPr lang="en-IN" sz="4000" dirty="0"/>
              <a:t> </a:t>
            </a:r>
            <a:r>
              <a:rPr lang="en-IN" sz="4000" dirty="0">
                <a:latin typeface="Times New Roman" panose="02020603050405020304" pitchFamily="18" charset="0"/>
                <a:cs typeface="Times New Roman" panose="02020603050405020304" pitchFamily="18" charset="0"/>
              </a:rPr>
              <a:t>Survey</a:t>
            </a:r>
            <a:br>
              <a:rPr lang="en-IN" sz="4800" dirty="0"/>
            </a:br>
            <a:endParaRPr lang="en-IN" sz="4800" dirty="0">
              <a:latin typeface="Aharoni" panose="02010803020104030203" pitchFamily="2" charset="-79"/>
              <a:cs typeface="Aharoni" panose="02010803020104030203" pitchFamily="2" charset="-79"/>
            </a:endParaRPr>
          </a:p>
        </p:txBody>
      </p:sp>
      <p:graphicFrame>
        <p:nvGraphicFramePr>
          <p:cNvPr id="6" name="Content Placeholder 5">
            <a:extLst>
              <a:ext uri="{FF2B5EF4-FFF2-40B4-BE49-F238E27FC236}">
                <a16:creationId xmlns:a16="http://schemas.microsoft.com/office/drawing/2014/main" id="{6A35500E-29FB-FE70-8155-5F3002E48264}"/>
              </a:ext>
            </a:extLst>
          </p:cNvPr>
          <p:cNvGraphicFramePr>
            <a:graphicFrameLocks noGrp="1"/>
          </p:cNvGraphicFramePr>
          <p:nvPr>
            <p:ph idx="1"/>
            <p:extLst>
              <p:ext uri="{D42A27DB-BD31-4B8C-83A1-F6EECF244321}">
                <p14:modId xmlns:p14="http://schemas.microsoft.com/office/powerpoint/2010/main" val="4248113333"/>
              </p:ext>
            </p:extLst>
          </p:nvPr>
        </p:nvGraphicFramePr>
        <p:xfrm>
          <a:off x="869056" y="1380679"/>
          <a:ext cx="7730838" cy="2858054"/>
        </p:xfrm>
        <a:graphic>
          <a:graphicData uri="http://schemas.openxmlformats.org/drawingml/2006/table">
            <a:tbl>
              <a:tblPr>
                <a:tableStyleId>{5DA37D80-6434-44D0-A028-1B22A696006F}</a:tableStyleId>
              </a:tblPr>
              <a:tblGrid>
                <a:gridCol w="2576946">
                  <a:extLst>
                    <a:ext uri="{9D8B030D-6E8A-4147-A177-3AD203B41FA5}">
                      <a16:colId xmlns:a16="http://schemas.microsoft.com/office/drawing/2014/main" val="3696413438"/>
                    </a:ext>
                  </a:extLst>
                </a:gridCol>
                <a:gridCol w="2576946">
                  <a:extLst>
                    <a:ext uri="{9D8B030D-6E8A-4147-A177-3AD203B41FA5}">
                      <a16:colId xmlns:a16="http://schemas.microsoft.com/office/drawing/2014/main" val="284634961"/>
                    </a:ext>
                  </a:extLst>
                </a:gridCol>
                <a:gridCol w="2576946">
                  <a:extLst>
                    <a:ext uri="{9D8B030D-6E8A-4147-A177-3AD203B41FA5}">
                      <a16:colId xmlns:a16="http://schemas.microsoft.com/office/drawing/2014/main" val="1701002834"/>
                    </a:ext>
                  </a:extLst>
                </a:gridCol>
              </a:tblGrid>
              <a:tr h="176102">
                <a:tc>
                  <a:txBody>
                    <a:bodyPr/>
                    <a:lstStyle/>
                    <a:p>
                      <a:pPr>
                        <a:buNone/>
                      </a:pPr>
                      <a:r>
                        <a:rPr lang="en-US" sz="900" b="1" dirty="0"/>
                        <a:t>Paper Title</a:t>
                      </a:r>
                      <a:endParaRPr lang="en-US" sz="900" dirty="0"/>
                    </a:p>
                  </a:txBody>
                  <a:tcPr marL="61162" marR="61162" marT="30581" marB="30581" anchor="ctr"/>
                </a:tc>
                <a:tc>
                  <a:txBody>
                    <a:bodyPr/>
                    <a:lstStyle/>
                    <a:p>
                      <a:pPr>
                        <a:buNone/>
                      </a:pPr>
                      <a:r>
                        <a:rPr lang="en-US" sz="900" b="1"/>
                        <a:t>Summary</a:t>
                      </a:r>
                      <a:endParaRPr lang="en-US" sz="900"/>
                    </a:p>
                  </a:txBody>
                  <a:tcPr marL="61162" marR="61162" marT="30581" marB="30581" anchor="ctr"/>
                </a:tc>
                <a:tc>
                  <a:txBody>
                    <a:bodyPr/>
                    <a:lstStyle/>
                    <a:p>
                      <a:pPr>
                        <a:buNone/>
                      </a:pPr>
                      <a:r>
                        <a:rPr lang="en-US" sz="900" b="1"/>
                        <a:t>Citation</a:t>
                      </a:r>
                      <a:endParaRPr lang="en-US" sz="900"/>
                    </a:p>
                  </a:txBody>
                  <a:tcPr marL="61162" marR="61162" marT="30581" marB="30581" anchor="ctr"/>
                </a:tc>
                <a:extLst>
                  <a:ext uri="{0D108BD9-81ED-4DB2-BD59-A6C34878D82A}">
                    <a16:rowId xmlns:a16="http://schemas.microsoft.com/office/drawing/2014/main" val="3688307692"/>
                  </a:ext>
                </a:extLst>
              </a:tr>
              <a:tr h="1028648">
                <a:tc>
                  <a:txBody>
                    <a:bodyPr/>
                    <a:lstStyle/>
                    <a:p>
                      <a:pPr>
                        <a:buNone/>
                      </a:pPr>
                      <a:r>
                        <a:rPr lang="en-US" sz="900" b="1" dirty="0"/>
                        <a:t>Smart Agriculture: A Literature Review</a:t>
                      </a:r>
                      <a:endParaRPr lang="en-US" sz="900" dirty="0"/>
                    </a:p>
                  </a:txBody>
                  <a:tcPr marL="61162" marR="61162" marT="30581" marB="30581" anchor="ctr"/>
                </a:tc>
                <a:tc>
                  <a:txBody>
                    <a:bodyPr/>
                    <a:lstStyle/>
                    <a:p>
                      <a:pPr>
                        <a:buNone/>
                      </a:pPr>
                      <a:r>
                        <a:rPr lang="en-US" sz="900"/>
                        <a:t>Explains how IoT, AI, and data analytics are transforming agriculture. Most systems focus on specific tasks like sensing and automation rather than offering a complete integrated platform. Highlights key challenges such as interoperability issues, infrastructure costs, and limited adoption among small-scale farmers.</a:t>
                      </a:r>
                    </a:p>
                  </a:txBody>
                  <a:tcPr marL="61162" marR="61162" marT="30581" marB="30581" anchor="ctr"/>
                </a:tc>
                <a:tc>
                  <a:txBody>
                    <a:bodyPr/>
                    <a:lstStyle/>
                    <a:p>
                      <a:pPr>
                        <a:buNone/>
                      </a:pPr>
                      <a:r>
                        <a:rPr lang="en-US" sz="900"/>
                        <a:t>X. Li and Y. Zhang, “Smart Agriculture: A Literature Review,” Smart Agricultural Technology, vol. 2, 2022, doi: </a:t>
                      </a:r>
                      <a:r>
                        <a:rPr lang="en-US" sz="900">
                          <a:hlinkClick r:id="rId2"/>
                        </a:rPr>
                        <a:t>10.1016/j.atech.2022.100009</a:t>
                      </a:r>
                      <a:endParaRPr lang="en-US" sz="900"/>
                    </a:p>
                  </a:txBody>
                  <a:tcPr marL="61162" marR="61162" marT="30581" marB="30581" anchor="ctr"/>
                </a:tc>
                <a:extLst>
                  <a:ext uri="{0D108BD9-81ED-4DB2-BD59-A6C34878D82A}">
                    <a16:rowId xmlns:a16="http://schemas.microsoft.com/office/drawing/2014/main" val="2370178362"/>
                  </a:ext>
                </a:extLst>
              </a:tr>
              <a:tr h="663271">
                <a:tc>
                  <a:txBody>
                    <a:bodyPr/>
                    <a:lstStyle/>
                    <a:p>
                      <a:pPr>
                        <a:buNone/>
                      </a:pPr>
                      <a:r>
                        <a:rPr lang="en-US" sz="900" b="1" dirty="0"/>
                        <a:t>Agricultural Product Price Forecasting Methods — A Review</a:t>
                      </a:r>
                      <a:endParaRPr lang="en-US" sz="900" dirty="0"/>
                    </a:p>
                  </a:txBody>
                  <a:tcPr marL="61162" marR="61162" marT="30581" marB="30581" anchor="ctr"/>
                </a:tc>
                <a:tc>
                  <a:txBody>
                    <a:bodyPr/>
                    <a:lstStyle/>
                    <a:p>
                      <a:pPr>
                        <a:buNone/>
                      </a:pPr>
                      <a:r>
                        <a:rPr lang="en-US" sz="900" dirty="0"/>
                        <a:t>Compares statistical forecasting methods with machine learning and hybrid models. Concludes that ML-based methods generally achieve better accuracy but rely on high-quality datasets and strong preprocessing.</a:t>
                      </a:r>
                    </a:p>
                  </a:txBody>
                  <a:tcPr marL="61162" marR="61162" marT="30581" marB="30581" anchor="ctr"/>
                </a:tc>
                <a:tc>
                  <a:txBody>
                    <a:bodyPr/>
                    <a:lstStyle/>
                    <a:p>
                      <a:pPr>
                        <a:buNone/>
                      </a:pPr>
                      <a:r>
                        <a:rPr lang="en-US" sz="900"/>
                        <a:t>Wang, Chen, and Rui Liu, “Agricultural Product Price Forecasting Methods: A Review,” Agriculture, vol. 13, no. 9, 2023, doi: </a:t>
                      </a:r>
                      <a:r>
                        <a:rPr lang="en-US" sz="900">
                          <a:hlinkClick r:id="rId3"/>
                        </a:rPr>
                        <a:t>10.3390/agriculture13091671</a:t>
                      </a:r>
                      <a:endParaRPr lang="en-US" sz="900"/>
                    </a:p>
                  </a:txBody>
                  <a:tcPr marL="61162" marR="61162" marT="30581" marB="30581" anchor="ctr"/>
                </a:tc>
                <a:extLst>
                  <a:ext uri="{0D108BD9-81ED-4DB2-BD59-A6C34878D82A}">
                    <a16:rowId xmlns:a16="http://schemas.microsoft.com/office/drawing/2014/main" val="1103206486"/>
                  </a:ext>
                </a:extLst>
              </a:tr>
              <a:tr h="785063">
                <a:tc>
                  <a:txBody>
                    <a:bodyPr/>
                    <a:lstStyle/>
                    <a:p>
                      <a:pPr>
                        <a:buNone/>
                      </a:pPr>
                      <a:r>
                        <a:rPr lang="en-US" sz="900" b="1" dirty="0"/>
                        <a:t>Enhancing Agricultural Commodity Price Forecasting with Deep Learning</a:t>
                      </a:r>
                      <a:endParaRPr lang="en-US" sz="900" dirty="0"/>
                    </a:p>
                  </a:txBody>
                  <a:tcPr marL="61162" marR="61162" marT="30581" marB="30581" anchor="ctr"/>
                </a:tc>
                <a:tc>
                  <a:txBody>
                    <a:bodyPr/>
                    <a:lstStyle/>
                    <a:p>
                      <a:pPr>
                        <a:buNone/>
                      </a:pPr>
                      <a:r>
                        <a:rPr lang="en-US" sz="900"/>
                        <a:t>Studies deep learning models such as LSTM and hybrid neural networks for agricultural price prediction. Finds that these models effectively capture complex nonlinear trends but require large datasets and careful design to avoid overfitting.</a:t>
                      </a:r>
                    </a:p>
                  </a:txBody>
                  <a:tcPr marL="61162" marR="61162" marT="30581" marB="30581" anchor="ctr"/>
                </a:tc>
                <a:tc>
                  <a:txBody>
                    <a:bodyPr/>
                    <a:lstStyle/>
                    <a:p>
                      <a:pPr>
                        <a:buNone/>
                      </a:pPr>
                      <a:r>
                        <a:rPr lang="en-US" sz="900" dirty="0"/>
                        <a:t>R. Sharma and P. Singh, “Enhancing Agricultural Commodity Price Forecasting with Deep Learning,” Scientific Reports, vol. 15, no. 102, 2025, </a:t>
                      </a:r>
                      <a:r>
                        <a:rPr lang="en-US" sz="900" dirty="0" err="1"/>
                        <a:t>doi</a:t>
                      </a:r>
                      <a:r>
                        <a:rPr lang="en-US" sz="900" dirty="0"/>
                        <a:t>: </a:t>
                      </a:r>
                      <a:r>
                        <a:rPr lang="en-US" sz="900" dirty="0">
                          <a:hlinkClick r:id="rId4"/>
                        </a:rPr>
                        <a:t>10.1038/s41598-025-05103-z</a:t>
                      </a:r>
                      <a:endParaRPr lang="en-US" sz="900" dirty="0"/>
                    </a:p>
                  </a:txBody>
                  <a:tcPr marL="61162" marR="61162" marT="30581" marB="30581" anchor="ctr"/>
                </a:tc>
                <a:extLst>
                  <a:ext uri="{0D108BD9-81ED-4DB2-BD59-A6C34878D82A}">
                    <a16:rowId xmlns:a16="http://schemas.microsoft.com/office/drawing/2014/main" val="1598726098"/>
                  </a:ext>
                </a:extLst>
              </a:tr>
            </a:tbl>
          </a:graphicData>
        </a:graphic>
      </p:graphicFrame>
      <p:sp>
        <p:nvSpPr>
          <p:cNvPr id="4" name="Slide Number Placeholder 3">
            <a:extLst>
              <a:ext uri="{FF2B5EF4-FFF2-40B4-BE49-F238E27FC236}">
                <a16:creationId xmlns:a16="http://schemas.microsoft.com/office/drawing/2014/main" id="{0418B55A-45CF-63B7-E374-5BE822918714}"/>
              </a:ext>
            </a:extLst>
          </p:cNvPr>
          <p:cNvSpPr>
            <a:spLocks noGrp="1"/>
          </p:cNvSpPr>
          <p:nvPr>
            <p:ph type="sldNum" sz="quarter" idx="12"/>
          </p:nvPr>
        </p:nvSpPr>
        <p:spPr/>
        <p:txBody>
          <a:bodyPr/>
          <a:lstStyle/>
          <a:p>
            <a:fld id="{DB8F001F-BD0A-4A1E-A4B7-0CFB6AE101E0}" type="slidenum">
              <a:rPr lang="en-US" smtClean="0"/>
              <a:pPr/>
              <a:t>6</a:t>
            </a:fld>
            <a:endParaRPr lang="en-US"/>
          </a:p>
        </p:txBody>
      </p:sp>
      <p:sp>
        <p:nvSpPr>
          <p:cNvPr id="8" name="TextBox 7">
            <a:extLst>
              <a:ext uri="{FF2B5EF4-FFF2-40B4-BE49-F238E27FC236}">
                <a16:creationId xmlns:a16="http://schemas.microsoft.com/office/drawing/2014/main" id="{E3E23296-3142-F863-DE6F-EE8FB44DEE63}"/>
              </a:ext>
            </a:extLst>
          </p:cNvPr>
          <p:cNvSpPr txBox="1"/>
          <p:nvPr/>
        </p:nvSpPr>
        <p:spPr>
          <a:xfrm>
            <a:off x="793488" y="4275902"/>
            <a:ext cx="8758591" cy="2185214"/>
          </a:xfrm>
          <a:prstGeom prst="rect">
            <a:avLst/>
          </a:prstGeom>
          <a:noFill/>
        </p:spPr>
        <p:txBody>
          <a:bodyPr wrap="square" rtlCol="0">
            <a:spAutoFit/>
          </a:bodyPr>
          <a:lstStyle/>
          <a:p>
            <a:r>
              <a:rPr lang="en-US" sz="1200" b="1" dirty="0" err="1"/>
              <a:t>eNAM</a:t>
            </a:r>
            <a:r>
              <a:rPr lang="en-US" sz="1200" b="1" dirty="0"/>
              <a:t>: Key Features &amp; Limitations</a:t>
            </a:r>
          </a:p>
          <a:p>
            <a:r>
              <a:rPr lang="en-US" sz="1200" b="1" dirty="0"/>
              <a:t>Key Features:</a:t>
            </a:r>
            <a:br>
              <a:rPr lang="en-US" sz="1200" dirty="0"/>
            </a:br>
            <a:r>
              <a:rPr lang="en-US" sz="1200" dirty="0"/>
              <a:t>• Integrates multiple state mandis (APMCs) into a unified trading platform</a:t>
            </a:r>
            <a:br>
              <a:rPr lang="en-US" sz="1200" dirty="0"/>
            </a:br>
            <a:r>
              <a:rPr lang="en-US" sz="1200" dirty="0"/>
              <a:t>• Shows real-time mandi prices, arrivals, and trade data</a:t>
            </a:r>
            <a:br>
              <a:rPr lang="en-US" sz="1200" dirty="0"/>
            </a:br>
            <a:r>
              <a:rPr lang="en-US" sz="1200" dirty="0"/>
              <a:t>• Supports online payments and quality testing</a:t>
            </a:r>
            <a:br>
              <a:rPr lang="en-US" sz="1200" dirty="0"/>
            </a:br>
            <a:r>
              <a:rPr lang="en-US" sz="1200" dirty="0"/>
              <a:t>• Access via web portal and mobile app in multiple languages</a:t>
            </a:r>
            <a:br>
              <a:rPr lang="en-US" sz="1200" dirty="0"/>
            </a:br>
            <a:r>
              <a:rPr lang="en-US" sz="1200" dirty="0"/>
              <a:t>• Uses </a:t>
            </a:r>
            <a:r>
              <a:rPr lang="en-US" sz="1200" dirty="0" err="1"/>
              <a:t>Agmarknet</a:t>
            </a:r>
            <a:r>
              <a:rPr lang="en-US" sz="1200" dirty="0"/>
              <a:t> data to help farmers compare prices</a:t>
            </a:r>
          </a:p>
          <a:p>
            <a:r>
              <a:rPr lang="en-US" sz="1200" b="1" dirty="0"/>
              <a:t>Limitation:</a:t>
            </a:r>
            <a:br>
              <a:rPr lang="en-US" sz="1200" dirty="0"/>
            </a:br>
            <a:r>
              <a:rPr lang="en-US" sz="1200" dirty="0" err="1"/>
              <a:t>eNAM</a:t>
            </a:r>
            <a:r>
              <a:rPr lang="en-US" sz="1200" dirty="0"/>
              <a:t> is focused primarily on commodity trading and price discovery—it does </a:t>
            </a:r>
            <a:r>
              <a:rPr lang="en-US" sz="1200" b="1" dirty="0"/>
              <a:t>not</a:t>
            </a:r>
            <a:r>
              <a:rPr lang="en-US" sz="1200" dirty="0"/>
              <a:t> incorporate real-time weather updates, AI chatbots, pest detection, or crop planning recommendations</a:t>
            </a:r>
            <a:r>
              <a:rPr lang="en-US" dirty="0"/>
              <a:t>.</a:t>
            </a:r>
          </a:p>
          <a:p>
            <a:endParaRPr lang="en-US" dirty="0"/>
          </a:p>
        </p:txBody>
      </p:sp>
    </p:spTree>
    <p:extLst>
      <p:ext uri="{BB962C8B-B14F-4D97-AF65-F5344CB8AC3E}">
        <p14:creationId xmlns:p14="http://schemas.microsoft.com/office/powerpoint/2010/main" val="3470575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35711-BA27-6BB1-E0BA-D8F695758A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A8AB4-81FE-870D-CE5D-51B4A9710FA2}"/>
              </a:ext>
            </a:extLst>
          </p:cNvPr>
          <p:cNvSpPr>
            <a:spLocks noGrp="1"/>
          </p:cNvSpPr>
          <p:nvPr>
            <p:ph type="title"/>
          </p:nvPr>
        </p:nvSpPr>
        <p:spPr>
          <a:xfrm>
            <a:off x="311700" y="350087"/>
            <a:ext cx="8520600" cy="763500"/>
          </a:xfrm>
        </p:spPr>
        <p:txBody>
          <a:bodyPr/>
          <a:lstStyle/>
          <a:p>
            <a:r>
              <a:rPr lang="en-US" sz="3200" dirty="0">
                <a:latin typeface="Times New Roman" panose="02020603050405020304" pitchFamily="18" charset="0"/>
                <a:cs typeface="Times New Roman" panose="02020603050405020304" pitchFamily="18" charset="0"/>
              </a:rPr>
              <a:t>PROPOSED SYSTEM</a:t>
            </a:r>
            <a:endParaRPr lang="en-IN" sz="3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E88AD02-112D-A581-FB72-57BF8EF9C543}"/>
              </a:ext>
            </a:extLst>
          </p:cNvPr>
          <p:cNvSpPr>
            <a:spLocks noGrp="1"/>
          </p:cNvSpPr>
          <p:nvPr>
            <p:ph type="sldNum" sz="quarter" idx="12"/>
          </p:nvPr>
        </p:nvSpPr>
        <p:spPr/>
        <p:txBody>
          <a:bodyPr/>
          <a:lstStyle/>
          <a:p>
            <a:fld id="{DB8F001F-BD0A-4A1E-A4B7-0CFB6AE101E0}" type="slidenum">
              <a:rPr lang="en-US" smtClean="0"/>
              <a:pPr/>
              <a:t>7</a:t>
            </a:fld>
            <a:endParaRPr lang="en-US"/>
          </a:p>
        </p:txBody>
      </p:sp>
      <p:sp>
        <p:nvSpPr>
          <p:cNvPr id="6" name="Rectangle 2">
            <a:extLst>
              <a:ext uri="{FF2B5EF4-FFF2-40B4-BE49-F238E27FC236}">
                <a16:creationId xmlns:a16="http://schemas.microsoft.com/office/drawing/2014/main" id="{D5603D64-E9D2-5BCB-868D-9C5B45D91E14}"/>
              </a:ext>
            </a:extLst>
          </p:cNvPr>
          <p:cNvSpPr>
            <a:spLocks noGrp="1" noChangeArrowheads="1"/>
          </p:cNvSpPr>
          <p:nvPr>
            <p:ph idx="1"/>
          </p:nvPr>
        </p:nvSpPr>
        <p:spPr bwMode="auto">
          <a:xfrm>
            <a:off x="115410" y="1343809"/>
            <a:ext cx="871689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Simple Multi-Stage Workflow</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functions as a set of separate modules, each following a straightforward process: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Access: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selects a location (e.g., Konkan, Thane). The system fetches and displays corresponding data.</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Recommendation Input: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provides seven numerical values for soil and weather conditions. A model runs to provide a result.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Pest Image Input: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uploads an image file (e.g., download.jpg). The system processes the image and shows a detection result.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Information Query: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inputs a text query (e.g., "Crops for growing in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pune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the chat interface. The system returns a text-based answer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8222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63A3-4833-2754-A6DF-431BE6BE6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9D763-55CC-9E2C-1DA1-7C45A2F7D12C}"/>
              </a:ext>
            </a:extLst>
          </p:cNvPr>
          <p:cNvSpPr>
            <a:spLocks noGrp="1"/>
          </p:cNvSpPr>
          <p:nvPr>
            <p:ph type="title"/>
          </p:nvPr>
        </p:nvSpPr>
        <p:spPr>
          <a:xfrm>
            <a:off x="311700" y="0"/>
            <a:ext cx="8520600" cy="763500"/>
          </a:xfrm>
        </p:spPr>
        <p:txBody>
          <a:bodyPr/>
          <a:lstStyle/>
          <a:p>
            <a:r>
              <a:rPr lang="en-IN" sz="4800" dirty="0">
                <a:latin typeface="Times New Roman" panose="02020603050405020304" pitchFamily="18" charset="0"/>
                <a:cs typeface="Times New Roman" panose="02020603050405020304" pitchFamily="18" charset="0"/>
              </a:rPr>
              <a:t>ARCHITECTURE</a:t>
            </a:r>
          </a:p>
        </p:txBody>
      </p:sp>
      <p:sp>
        <p:nvSpPr>
          <p:cNvPr id="3" name="Content Placeholder 2">
            <a:extLst>
              <a:ext uri="{FF2B5EF4-FFF2-40B4-BE49-F238E27FC236}">
                <a16:creationId xmlns:a16="http://schemas.microsoft.com/office/drawing/2014/main" id="{2EC31676-58FD-6DB4-429B-36B98DEEEC83}"/>
              </a:ext>
            </a:extLst>
          </p:cNvPr>
          <p:cNvSpPr>
            <a:spLocks noGrp="1"/>
          </p:cNvSpPr>
          <p:nvPr>
            <p:ph idx="1"/>
          </p:nvPr>
        </p:nvSpPr>
        <p:spPr>
          <a:xfrm>
            <a:off x="457200" y="1083000"/>
            <a:ext cx="8229600" cy="4525963"/>
          </a:xfrm>
        </p:spPr>
        <p:txBody>
          <a:bodyPr/>
          <a:lstStyle/>
          <a:p>
            <a:r>
              <a:rPr lang="en-US" sz="2200" dirty="0">
                <a:latin typeface="Times New Roman" panose="02020603050405020304" pitchFamily="18" charset="0"/>
                <a:cs typeface="Times New Roman" panose="02020603050405020304" pitchFamily="18" charset="0"/>
              </a:rPr>
              <a:t>The </a:t>
            </a:r>
            <a:r>
              <a:rPr lang="en-US" sz="2200" dirty="0" err="1">
                <a:latin typeface="Times New Roman" panose="02020603050405020304" pitchFamily="18" charset="0"/>
                <a:cs typeface="Times New Roman" panose="02020603050405020304" pitchFamily="18" charset="0"/>
              </a:rPr>
              <a:t>MahaKrishi</a:t>
            </a:r>
            <a:r>
              <a:rPr lang="en-US" sz="2200" dirty="0">
                <a:latin typeface="Times New Roman" panose="02020603050405020304" pitchFamily="18" charset="0"/>
                <a:cs typeface="Times New Roman" panose="02020603050405020304" pitchFamily="18" charset="0"/>
              </a:rPr>
              <a:t> system uses a </a:t>
            </a:r>
            <a:r>
              <a:rPr lang="en-US" sz="2200" b="1" dirty="0">
                <a:latin typeface="Times New Roman" panose="02020603050405020304" pitchFamily="18" charset="0"/>
                <a:cs typeface="Times New Roman" panose="02020603050405020304" pitchFamily="18" charset="0"/>
              </a:rPr>
              <a:t>three-tier architecture</a:t>
            </a:r>
            <a:r>
              <a:rPr lang="en-US" sz="2200" dirty="0">
                <a:latin typeface="Times New Roman" panose="02020603050405020304" pitchFamily="18" charset="0"/>
                <a:cs typeface="Times New Roman" panose="02020603050405020304" pitchFamily="18" charset="0"/>
              </a:rPr>
              <a:t> for practical functionality:</a:t>
            </a:r>
          </a:p>
          <a:p>
            <a:r>
              <a:rPr lang="en-US" sz="2200" b="1" dirty="0">
                <a:latin typeface="Times New Roman" panose="02020603050405020304" pitchFamily="18" charset="0"/>
                <a:cs typeface="Times New Roman" panose="02020603050405020304" pitchFamily="18" charset="0"/>
              </a:rPr>
              <a:t>Presentation Tier (Frontend):</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Web Application</a:t>
            </a:r>
            <a:r>
              <a:rPr lang="en-US" sz="2200" dirty="0">
                <a:latin typeface="Times New Roman" panose="02020603050405020304" pitchFamily="18" charset="0"/>
                <a:cs typeface="Times New Roman" panose="02020603050405020304" pitchFamily="18" charset="0"/>
              </a:rPr>
              <a:t> serves as the unified interface for all five modules (Dashboard, Crop Recommendation, etc.).</a:t>
            </a:r>
          </a:p>
          <a:p>
            <a:r>
              <a:rPr lang="en-US" sz="2200" b="1" dirty="0">
                <a:latin typeface="Times New Roman" panose="02020603050405020304" pitchFamily="18" charset="0"/>
                <a:cs typeface="Times New Roman" panose="02020603050405020304" pitchFamily="18" charset="0"/>
              </a:rPr>
              <a:t>Application Tier (Backend Logic):</a:t>
            </a:r>
            <a:r>
              <a:rPr lang="en-US" sz="2200" dirty="0">
                <a:latin typeface="Times New Roman" panose="02020603050405020304" pitchFamily="18" charset="0"/>
                <a:cs typeface="Times New Roman" panose="02020603050405020304" pitchFamily="18" charset="0"/>
              </a:rPr>
              <a:t> A </a:t>
            </a:r>
            <a:r>
              <a:rPr lang="en-US" sz="2200" b="1" dirty="0">
                <a:latin typeface="Times New Roman" panose="02020603050405020304" pitchFamily="18" charset="0"/>
                <a:cs typeface="Times New Roman" panose="02020603050405020304" pitchFamily="18" charset="0"/>
              </a:rPr>
              <a:t>Python Server</a:t>
            </a:r>
            <a:r>
              <a:rPr lang="en-US" sz="2200" dirty="0">
                <a:latin typeface="Times New Roman" panose="02020603050405020304" pitchFamily="18" charset="0"/>
                <a:cs typeface="Times New Roman" panose="02020603050405020304" pitchFamily="18" charset="0"/>
              </a:rPr>
              <a:t> manages user requests and routes them to the correct data or model component.</a:t>
            </a:r>
          </a:p>
          <a:p>
            <a:r>
              <a:rPr lang="en-US" sz="2200" b="1" dirty="0">
                <a:latin typeface="Times New Roman" panose="02020603050405020304" pitchFamily="18" charset="0"/>
                <a:cs typeface="Times New Roman" panose="02020603050405020304" pitchFamily="18" charset="0"/>
              </a:rPr>
              <a:t>Data/Model Tier:</a:t>
            </a:r>
            <a:r>
              <a:rPr lang="en-US" sz="2200" dirty="0">
                <a:latin typeface="Times New Roman" panose="02020603050405020304" pitchFamily="18" charset="0"/>
                <a:cs typeface="Times New Roman" panose="02020603050405020304" pitchFamily="18" charset="0"/>
              </a:rPr>
              <a:t> This layer houses the specialized tools:</a:t>
            </a:r>
          </a:p>
          <a:p>
            <a:pPr lvl="1"/>
            <a:r>
              <a:rPr lang="en-US" sz="2200" b="1" dirty="0">
                <a:latin typeface="Times New Roman" panose="02020603050405020304" pitchFamily="18" charset="0"/>
                <a:cs typeface="Times New Roman" panose="02020603050405020304" pitchFamily="18" charset="0"/>
              </a:rPr>
              <a:t>ML Model:</a:t>
            </a:r>
            <a:r>
              <a:rPr lang="en-US" sz="2200" dirty="0">
                <a:latin typeface="Times New Roman" panose="02020603050405020304" pitchFamily="18" charset="0"/>
                <a:cs typeface="Times New Roman" panose="02020603050405020304" pitchFamily="18" charset="0"/>
              </a:rPr>
              <a:t> Predicts crop type.</a:t>
            </a:r>
          </a:p>
          <a:p>
            <a:pPr lvl="1"/>
            <a:r>
              <a:rPr lang="en-US" sz="2200" b="1" dirty="0">
                <a:latin typeface="Times New Roman" panose="02020603050405020304" pitchFamily="18" charset="0"/>
                <a:cs typeface="Times New Roman" panose="02020603050405020304" pitchFamily="18" charset="0"/>
              </a:rPr>
              <a:t>Image Processing Model:</a:t>
            </a:r>
            <a:r>
              <a:rPr lang="en-US" sz="2200" dirty="0">
                <a:latin typeface="Times New Roman" panose="02020603050405020304" pitchFamily="18" charset="0"/>
                <a:cs typeface="Times New Roman" panose="02020603050405020304" pitchFamily="18" charset="0"/>
              </a:rPr>
              <a:t> Identifies pests.</a:t>
            </a:r>
          </a:p>
          <a:p>
            <a:pPr lvl="1"/>
            <a:r>
              <a:rPr lang="en-US" sz="2200" b="1" dirty="0">
                <a:latin typeface="Times New Roman" panose="02020603050405020304" pitchFamily="18" charset="0"/>
                <a:cs typeface="Times New Roman" panose="02020603050405020304" pitchFamily="18" charset="0"/>
              </a:rPr>
              <a:t>External APIs:</a:t>
            </a:r>
            <a:r>
              <a:rPr lang="en-US" sz="2200" dirty="0">
                <a:latin typeface="Times New Roman" panose="02020603050405020304" pitchFamily="18" charset="0"/>
                <a:cs typeface="Times New Roman" panose="02020603050405020304" pitchFamily="18" charset="0"/>
              </a:rPr>
              <a:t> Fetch real-time weather and market prices.</a:t>
            </a:r>
          </a:p>
          <a:p>
            <a:pPr lvl="1"/>
            <a:r>
              <a:rPr lang="en-US" sz="2200" b="1" dirty="0">
                <a:latin typeface="Times New Roman" panose="02020603050405020304" pitchFamily="18" charset="0"/>
                <a:cs typeface="Times New Roman" panose="02020603050405020304" pitchFamily="18" charset="0"/>
              </a:rPr>
              <a:t>Knowledge Base:</a:t>
            </a:r>
            <a:r>
              <a:rPr lang="en-US" sz="2200" dirty="0">
                <a:latin typeface="Times New Roman" panose="02020603050405020304" pitchFamily="18" charset="0"/>
                <a:cs typeface="Times New Roman" panose="02020603050405020304" pitchFamily="18" charset="0"/>
              </a:rPr>
              <a:t> Supplies Chatbot answers.</a:t>
            </a:r>
          </a:p>
          <a:p>
            <a:r>
              <a:rPr lang="en-US" sz="2200" dirty="0">
                <a:latin typeface="Times New Roman" panose="02020603050405020304" pitchFamily="18" charset="0"/>
                <a:cs typeface="Times New Roman" panose="02020603050405020304" pitchFamily="18" charset="0"/>
              </a:rPr>
              <a:t>This structure separates concerns, ensuring a simple user experience while efficiently managing complex internal processes.</a:t>
            </a:r>
          </a:p>
          <a:p>
            <a:endParaRPr lang="en-US" sz="2000" b="1" dirty="0"/>
          </a:p>
        </p:txBody>
      </p:sp>
      <p:sp>
        <p:nvSpPr>
          <p:cNvPr id="4" name="Slide Number Placeholder 3">
            <a:extLst>
              <a:ext uri="{FF2B5EF4-FFF2-40B4-BE49-F238E27FC236}">
                <a16:creationId xmlns:a16="http://schemas.microsoft.com/office/drawing/2014/main" id="{90243516-2F66-2E59-FF56-F9CF39346E41}"/>
              </a:ext>
            </a:extLst>
          </p:cNvPr>
          <p:cNvSpPr>
            <a:spLocks noGrp="1"/>
          </p:cNvSpPr>
          <p:nvPr>
            <p:ph type="sldNum" sz="quarter" idx="12"/>
          </p:nvPr>
        </p:nvSpPr>
        <p:spPr/>
        <p:txBody>
          <a:bodyPr/>
          <a:lstStyle/>
          <a:p>
            <a:fld id="{DB8F001F-BD0A-4A1E-A4B7-0CFB6AE101E0}" type="slidenum">
              <a:rPr lang="en-US" smtClean="0"/>
              <a:pPr/>
              <a:t>8</a:t>
            </a:fld>
            <a:endParaRPr lang="en-US"/>
          </a:p>
        </p:txBody>
      </p:sp>
    </p:spTree>
    <p:extLst>
      <p:ext uri="{BB962C8B-B14F-4D97-AF65-F5344CB8AC3E}">
        <p14:creationId xmlns:p14="http://schemas.microsoft.com/office/powerpoint/2010/main" val="24495497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FE9E8-EB60-DDDC-CDD0-25B4EADA60EA}"/>
              </a:ext>
            </a:extLst>
          </p:cNvPr>
          <p:cNvSpPr>
            <a:spLocks noGrp="1"/>
          </p:cNvSpPr>
          <p:nvPr>
            <p:ph type="title"/>
          </p:nvPr>
        </p:nvSpPr>
        <p:spPr>
          <a:xfrm>
            <a:off x="311700" y="377706"/>
            <a:ext cx="8520600" cy="763500"/>
          </a:xfrm>
        </p:spPr>
        <p:txBody>
          <a:bodyPr/>
          <a:lstStyle/>
          <a:p>
            <a:r>
              <a:rPr lang="en-US" sz="4800" dirty="0">
                <a:latin typeface="Times New Roman" panose="02020603050405020304" pitchFamily="18" charset="0"/>
                <a:cs typeface="Times New Roman" panose="02020603050405020304" pitchFamily="18" charset="0"/>
              </a:rPr>
              <a:t>ALGORITHM</a:t>
            </a:r>
            <a:endParaRPr lang="en-IN" sz="4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53728FE-10D5-6384-1BC8-9BCA2B686DE2}"/>
              </a:ext>
            </a:extLst>
          </p:cNvPr>
          <p:cNvSpPr>
            <a:spLocks noGrp="1"/>
          </p:cNvSpPr>
          <p:nvPr>
            <p:ph type="sldNum" sz="quarter" idx="12"/>
          </p:nvPr>
        </p:nvSpPr>
        <p:spPr/>
        <p:txBody>
          <a:bodyPr/>
          <a:lstStyle/>
          <a:p>
            <a:fld id="{DB8F001F-BD0A-4A1E-A4B7-0CFB6AE101E0}" type="slidenum">
              <a:rPr lang="en-US" smtClean="0"/>
              <a:pPr/>
              <a:t>9</a:t>
            </a:fld>
            <a:endParaRPr lang="en-US"/>
          </a:p>
        </p:txBody>
      </p:sp>
      <p:sp>
        <p:nvSpPr>
          <p:cNvPr id="5" name="Rectangle 1">
            <a:extLst>
              <a:ext uri="{FF2B5EF4-FFF2-40B4-BE49-F238E27FC236}">
                <a16:creationId xmlns:a16="http://schemas.microsoft.com/office/drawing/2014/main" id="{B162690C-1588-F87F-2786-797C5CDCD77B}"/>
              </a:ext>
            </a:extLst>
          </p:cNvPr>
          <p:cNvSpPr>
            <a:spLocks noGrp="1" noChangeArrowheads="1"/>
          </p:cNvSpPr>
          <p:nvPr>
            <p:ph idx="1"/>
          </p:nvPr>
        </p:nvSpPr>
        <p:spPr bwMode="auto">
          <a:xfrm>
            <a:off x="457201" y="1331719"/>
            <a:ext cx="8520600" cy="506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utilizes specialized algorithms for its core functions: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Crop Recommendation: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7 features ($N, P, K$, Temp, Hum, $pH$, Rain).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Input is fed to a trained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Classification Model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Predicted Crop</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coffee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Pest Detection: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User-uploaded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 is analyzed by 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Model (CNN)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Detected Pest Label</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Confidence Score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Modules: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1" eaLnBrk="0" fontAlgn="base" hangingPunct="0">
              <a:spcBef>
                <a:spcPct val="0"/>
              </a:spcBef>
              <a:spcAft>
                <a:spcPct val="0"/>
              </a:spcAft>
              <a:buClr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Location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Weather API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200" dirty="0">
                <a:solidFill>
                  <a:schemeClr val="tx1"/>
                </a:solidFill>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 Weather/General Crops.</a:t>
            </a:r>
          </a:p>
          <a:p>
            <a:pPr marL="457200" lvl="1" eaLnBrk="0" fontAlgn="base" hangingPunct="0">
              <a:spcBef>
                <a:spcPct val="0"/>
              </a:spcBef>
              <a:spcAft>
                <a:spcPct val="0"/>
              </a:spcAft>
              <a:buClr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Chatbot: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Text Query </a:t>
            </a:r>
            <a:r>
              <a:rPr lang="en-US" altLang="en-US" sz="2200" dirty="0">
                <a:solidFill>
                  <a:schemeClr val="tx1"/>
                </a:solidFill>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Conversational Logic</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sz="2200" dirty="0">
                <a:solidFill>
                  <a:schemeClr val="tx1"/>
                </a:solidFill>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Answer from Knowledge Base.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5386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1529B-B9E6-4100-B35E-D93DE14B9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5CDDE-3897-6199-2071-28971FBBA34A}"/>
              </a:ext>
            </a:extLst>
          </p:cNvPr>
          <p:cNvSpPr>
            <a:spLocks noGrp="1"/>
          </p:cNvSpPr>
          <p:nvPr>
            <p:ph type="title"/>
          </p:nvPr>
        </p:nvSpPr>
        <p:spPr>
          <a:xfrm>
            <a:off x="311700" y="0"/>
            <a:ext cx="8520600" cy="763500"/>
          </a:xfrm>
        </p:spPr>
        <p:txBody>
          <a:bodyPr/>
          <a:lstStyle/>
          <a:p>
            <a:r>
              <a:rPr lang="en-IN" sz="4800"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89369D84-3757-1A80-B08C-8CE7A54183F6}"/>
              </a:ext>
            </a:extLst>
          </p:cNvPr>
          <p:cNvSpPr>
            <a:spLocks noGrp="1"/>
          </p:cNvSpPr>
          <p:nvPr>
            <p:ph idx="1"/>
          </p:nvPr>
        </p:nvSpPr>
        <p:spPr>
          <a:xfrm>
            <a:off x="457200" y="865295"/>
            <a:ext cx="8229600" cy="4525963"/>
          </a:xfrm>
        </p:spPr>
        <p:txBody>
          <a:bodyPr/>
          <a:lstStyle/>
          <a:p>
            <a:r>
              <a:rPr lang="en-US" sz="2200" dirty="0">
                <a:latin typeface="Times New Roman" panose="02020603050405020304" pitchFamily="18" charset="0"/>
                <a:cs typeface="Times New Roman" panose="02020603050405020304" pitchFamily="18" charset="0"/>
              </a:rPr>
              <a:t>The project followed a </a:t>
            </a:r>
            <a:r>
              <a:rPr lang="en-US" sz="2200" b="1" dirty="0">
                <a:latin typeface="Times New Roman" panose="02020603050405020304" pitchFamily="18" charset="0"/>
                <a:cs typeface="Times New Roman" panose="02020603050405020304" pitchFamily="18" charset="0"/>
              </a:rPr>
              <a:t>modular and iterative development</a:t>
            </a:r>
            <a:r>
              <a:rPr lang="en-US" sz="2200" dirty="0">
                <a:latin typeface="Times New Roman" panose="02020603050405020304" pitchFamily="18" charset="0"/>
                <a:cs typeface="Times New Roman" panose="02020603050405020304" pitchFamily="18" charset="0"/>
              </a:rPr>
              <a:t> process:</a:t>
            </a:r>
          </a:p>
          <a:p>
            <a:r>
              <a:rPr lang="en-US" sz="2200" b="1" dirty="0">
                <a:latin typeface="Times New Roman" panose="02020603050405020304" pitchFamily="18" charset="0"/>
                <a:cs typeface="Times New Roman" panose="02020603050405020304" pitchFamily="18" charset="0"/>
              </a:rPr>
              <a:t>Data Sourcing &amp; Analysis:</a:t>
            </a:r>
            <a:r>
              <a:rPr lang="en-US" sz="2200" dirty="0">
                <a:latin typeface="Times New Roman" panose="02020603050405020304" pitchFamily="18" charset="0"/>
                <a:cs typeface="Times New Roman" panose="02020603050405020304" pitchFamily="18" charset="0"/>
              </a:rPr>
              <a:t> Acquired and prepared specific datasets for model training (ML/DL) and integrated </a:t>
            </a:r>
            <a:r>
              <a:rPr lang="en-US" sz="2200" b="1" dirty="0">
                <a:latin typeface="Times New Roman" panose="02020603050405020304" pitchFamily="18" charset="0"/>
                <a:cs typeface="Times New Roman" panose="02020603050405020304" pitchFamily="18" charset="0"/>
              </a:rPr>
              <a:t>external APIs</a:t>
            </a:r>
            <a:r>
              <a:rPr lang="en-US" sz="2200" dirty="0">
                <a:latin typeface="Times New Roman" panose="02020603050405020304" pitchFamily="18" charset="0"/>
                <a:cs typeface="Times New Roman" panose="02020603050405020304" pitchFamily="18" charset="0"/>
              </a:rPr>
              <a:t> for real-time data feeds (weather, market prices).</a:t>
            </a:r>
          </a:p>
          <a:p>
            <a:r>
              <a:rPr lang="en-US" sz="2200" b="1" dirty="0">
                <a:latin typeface="Times New Roman" panose="02020603050405020304" pitchFamily="18" charset="0"/>
                <a:cs typeface="Times New Roman" panose="02020603050405020304" pitchFamily="18" charset="0"/>
              </a:rPr>
              <a:t>Model Training:</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Trained the </a:t>
            </a:r>
            <a:r>
              <a:rPr lang="en-US" sz="2200" b="1" dirty="0">
                <a:latin typeface="Times New Roman" panose="02020603050405020304" pitchFamily="18" charset="0"/>
                <a:cs typeface="Times New Roman" panose="02020603050405020304" pitchFamily="18" charset="0"/>
              </a:rPr>
              <a:t>ML classification model</a:t>
            </a:r>
            <a:r>
              <a:rPr lang="en-US" sz="2200" dirty="0">
                <a:latin typeface="Times New Roman" panose="02020603050405020304" pitchFamily="18" charset="0"/>
                <a:cs typeface="Times New Roman" panose="02020603050405020304" pitchFamily="18" charset="0"/>
              </a:rPr>
              <a:t> for accurate Crop Recommendation.</a:t>
            </a:r>
          </a:p>
          <a:p>
            <a:pPr lvl="1"/>
            <a:r>
              <a:rPr lang="en-US" sz="2200" dirty="0">
                <a:latin typeface="Times New Roman" panose="02020603050405020304" pitchFamily="18" charset="0"/>
                <a:cs typeface="Times New Roman" panose="02020603050405020304" pitchFamily="18" charset="0"/>
              </a:rPr>
              <a:t>Trained the </a:t>
            </a:r>
            <a:r>
              <a:rPr lang="en-US" sz="2200" b="1" dirty="0">
                <a:latin typeface="Times New Roman" panose="02020603050405020304" pitchFamily="18" charset="0"/>
                <a:cs typeface="Times New Roman" panose="02020603050405020304" pitchFamily="18" charset="0"/>
              </a:rPr>
              <a:t>CNN model</a:t>
            </a:r>
            <a:r>
              <a:rPr lang="en-US" sz="2200" dirty="0">
                <a:latin typeface="Times New Roman" panose="02020603050405020304" pitchFamily="18" charset="0"/>
                <a:cs typeface="Times New Roman" panose="02020603050405020304" pitchFamily="18" charset="0"/>
              </a:rPr>
              <a:t> for reliable Pest Identification from images.</a:t>
            </a:r>
          </a:p>
          <a:p>
            <a:r>
              <a:rPr lang="en-US" sz="2200" b="1" dirty="0">
                <a:latin typeface="Times New Roman" panose="02020603050405020304" pitchFamily="18" charset="0"/>
                <a:cs typeface="Times New Roman" panose="02020603050405020304" pitchFamily="18" charset="0"/>
              </a:rPr>
              <a:t>Backend Development:</a:t>
            </a:r>
            <a:r>
              <a:rPr lang="en-US" sz="2200" dirty="0">
                <a:latin typeface="Times New Roman" panose="02020603050405020304" pitchFamily="18" charset="0"/>
                <a:cs typeface="Times New Roman" panose="02020603050405020304" pitchFamily="18" charset="0"/>
              </a:rPr>
              <a:t> Created the server-side logic to efficiently handle user requests and route them to the appropriate model or API.</a:t>
            </a:r>
          </a:p>
          <a:p>
            <a:r>
              <a:rPr lang="en-US" sz="2200" b="1" dirty="0">
                <a:latin typeface="Times New Roman" panose="02020603050405020304" pitchFamily="18" charset="0"/>
                <a:cs typeface="Times New Roman" panose="02020603050405020304" pitchFamily="18" charset="0"/>
              </a:rPr>
              <a:t>Frontend Integration:</a:t>
            </a:r>
            <a:r>
              <a:rPr lang="en-US" sz="2200" dirty="0">
                <a:latin typeface="Times New Roman" panose="02020603050405020304" pitchFamily="18" charset="0"/>
                <a:cs typeface="Times New Roman" panose="02020603050405020304" pitchFamily="18" charset="0"/>
              </a:rPr>
              <a:t> Designed the </a:t>
            </a:r>
            <a:r>
              <a:rPr lang="en-US" sz="2200" b="1" dirty="0">
                <a:latin typeface="Times New Roman" panose="02020603050405020304" pitchFamily="18" charset="0"/>
                <a:cs typeface="Times New Roman" panose="02020603050405020304" pitchFamily="18" charset="0"/>
              </a:rPr>
              <a:t>unified web interface</a:t>
            </a:r>
            <a:r>
              <a:rPr lang="en-US" sz="2200" dirty="0">
                <a:latin typeface="Times New Roman" panose="02020603050405020304" pitchFamily="18" charset="0"/>
                <a:cs typeface="Times New Roman" panose="02020603050405020304" pitchFamily="18" charset="0"/>
              </a:rPr>
              <a:t> and connected all backend APIs and data feeds to the UI for seamless user interaction.</a:t>
            </a:r>
          </a:p>
          <a:p>
            <a:r>
              <a:rPr lang="en-US" sz="2200" b="1" dirty="0">
                <a:latin typeface="Times New Roman" panose="02020603050405020304" pitchFamily="18" charset="0"/>
                <a:cs typeface="Times New Roman" panose="02020603050405020304" pitchFamily="18" charset="0"/>
              </a:rPr>
              <a:t>Testing:</a:t>
            </a:r>
            <a:r>
              <a:rPr lang="en-US" sz="2200" dirty="0">
                <a:latin typeface="Times New Roman" panose="02020603050405020304" pitchFamily="18" charset="0"/>
                <a:cs typeface="Times New Roman" panose="02020603050405020304" pitchFamily="18" charset="0"/>
              </a:rPr>
              <a:t> Conducted unit and integrated testing to validate functionality, accuracy, and overall system performance.</a:t>
            </a:r>
          </a:p>
          <a:p>
            <a:endParaRPr lang="en-US" sz="2000" dirty="0"/>
          </a:p>
        </p:txBody>
      </p:sp>
      <p:sp>
        <p:nvSpPr>
          <p:cNvPr id="4" name="Slide Number Placeholder 3">
            <a:extLst>
              <a:ext uri="{FF2B5EF4-FFF2-40B4-BE49-F238E27FC236}">
                <a16:creationId xmlns:a16="http://schemas.microsoft.com/office/drawing/2014/main" id="{9BC36561-A9A8-3008-5708-321837D56407}"/>
              </a:ext>
            </a:extLst>
          </p:cNvPr>
          <p:cNvSpPr>
            <a:spLocks noGrp="1"/>
          </p:cNvSpPr>
          <p:nvPr>
            <p:ph type="sldNum" sz="quarter" idx="12"/>
          </p:nvPr>
        </p:nvSpPr>
        <p:spPr/>
        <p:txBody>
          <a:bodyPr/>
          <a:lstStyle/>
          <a:p>
            <a:fld id="{DB8F001F-BD0A-4A1E-A4B7-0CFB6AE101E0}" type="slidenum">
              <a:rPr lang="en-US" smtClean="0"/>
              <a:pPr/>
              <a:t>10</a:t>
            </a:fld>
            <a:endParaRPr lang="en-US"/>
          </a:p>
        </p:txBody>
      </p:sp>
    </p:spTree>
    <p:extLst>
      <p:ext uri="{BB962C8B-B14F-4D97-AF65-F5344CB8AC3E}">
        <p14:creationId xmlns:p14="http://schemas.microsoft.com/office/powerpoint/2010/main" val="2067853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36B4B-4F44-27CC-5076-9A3319DC4CB0}"/>
              </a:ext>
            </a:extLst>
          </p:cNvPr>
          <p:cNvSpPr>
            <a:spLocks noGrp="1"/>
          </p:cNvSpPr>
          <p:nvPr>
            <p:ph type="title"/>
          </p:nvPr>
        </p:nvSpPr>
        <p:spPr>
          <a:xfrm>
            <a:off x="311700" y="441793"/>
            <a:ext cx="8520600" cy="763500"/>
          </a:xfrm>
        </p:spPr>
        <p:txBody>
          <a:bodyPr/>
          <a:lstStyle/>
          <a:p>
            <a:r>
              <a:rPr lang="en-US" sz="4800" dirty="0">
                <a:latin typeface="Times New Roman" panose="02020603050405020304" pitchFamily="18" charset="0"/>
                <a:cs typeface="Times New Roman" panose="02020603050405020304" pitchFamily="18" charset="0"/>
              </a:rPr>
              <a:t>FUTURE SCOPE</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4B26A1-D863-17EE-F3CF-0BD086C4C116}"/>
              </a:ext>
            </a:extLst>
          </p:cNvPr>
          <p:cNvSpPr>
            <a:spLocks noGrp="1"/>
          </p:cNvSpPr>
          <p:nvPr>
            <p:ph idx="1"/>
          </p:nvPr>
        </p:nvSpPr>
        <p:spPr>
          <a:xfrm>
            <a:off x="457200" y="1257601"/>
            <a:ext cx="8229600" cy="4525963"/>
          </a:xfrm>
        </p:spPr>
        <p:txBody>
          <a:bodyPr/>
          <a:lstStyle/>
          <a:p>
            <a:endParaRPr lang="en-IN" sz="2000" dirty="0"/>
          </a:p>
          <a:p>
            <a:r>
              <a:rPr lang="en-IN" sz="2000" dirty="0"/>
              <a:t>Impact and Future Enhancements </a:t>
            </a:r>
            <a:r>
              <a:rPr lang="en-IN" sz="2000" dirty="0" err="1"/>
              <a:t>MahaKrishi</a:t>
            </a:r>
            <a:r>
              <a:rPr lang="en-IN" sz="2000" dirty="0"/>
              <a:t> is designed to be practical and scalable. Potential future improvements include: </a:t>
            </a:r>
          </a:p>
          <a:p>
            <a:endParaRPr lang="en-IN" sz="2000" dirty="0"/>
          </a:p>
          <a:p>
            <a:pPr marL="342900" indent="-342900">
              <a:buFont typeface="Arial" panose="020B0604020202020204" pitchFamily="34" charset="0"/>
              <a:buChar char="•"/>
            </a:pPr>
            <a:r>
              <a:rPr lang="en-IN" sz="2000" dirty="0"/>
              <a:t>Building a mobile-friendly app version. </a:t>
            </a:r>
          </a:p>
          <a:p>
            <a:pPr marL="342900" indent="-342900">
              <a:buFont typeface="Arial" panose="020B0604020202020204" pitchFamily="34" charset="0"/>
              <a:buChar char="•"/>
            </a:pPr>
            <a:r>
              <a:rPr lang="en-IN" sz="2000" dirty="0"/>
              <a:t>Multi-language support for rural users. </a:t>
            </a:r>
          </a:p>
          <a:p>
            <a:pPr marL="342900" indent="-342900">
              <a:buFont typeface="Arial" panose="020B0604020202020204" pitchFamily="34" charset="0"/>
              <a:buChar char="•"/>
            </a:pPr>
            <a:r>
              <a:rPr lang="en-IN" sz="2000" dirty="0"/>
              <a:t>Adding voice input for farmers. </a:t>
            </a:r>
          </a:p>
          <a:p>
            <a:pPr marL="342900" indent="-342900">
              <a:buFont typeface="Arial" panose="020B0604020202020204" pitchFamily="34" charset="0"/>
              <a:buChar char="•"/>
            </a:pPr>
            <a:r>
              <a:rPr lang="en-IN" sz="2000" dirty="0"/>
              <a:t>Making it available for bigger regions / areas. </a:t>
            </a:r>
          </a:p>
          <a:p>
            <a:pPr marL="342900" indent="-342900">
              <a:buFont typeface="Arial" panose="020B0604020202020204" pitchFamily="34" charset="0"/>
              <a:buChar char="•"/>
            </a:pPr>
            <a:r>
              <a:rPr lang="en-IN" sz="2000" dirty="0"/>
              <a:t>Farmer Financial Analytics Dashboard.</a:t>
            </a:r>
          </a:p>
          <a:p>
            <a:pPr marL="342900" indent="-342900">
              <a:buFont typeface="Arial" panose="020B0604020202020204" pitchFamily="34" charset="0"/>
              <a:buChar char="•"/>
            </a:pPr>
            <a:r>
              <a:rPr lang="en-IN" sz="2000" dirty="0"/>
              <a:t>Farmer Training &amp; Education Module</a:t>
            </a:r>
          </a:p>
          <a:p>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13F2357-3FD2-F3D0-D59D-616C551D548B}"/>
              </a:ext>
            </a:extLst>
          </p:cNvPr>
          <p:cNvSpPr>
            <a:spLocks noGrp="1"/>
          </p:cNvSpPr>
          <p:nvPr>
            <p:ph type="sldNum" sz="quarter" idx="12"/>
          </p:nvPr>
        </p:nvSpPr>
        <p:spPr/>
        <p:txBody>
          <a:bodyPr/>
          <a:lstStyle/>
          <a:p>
            <a:fld id="{DB8F001F-BD0A-4A1E-A4B7-0CFB6AE101E0}" type="slidenum">
              <a:rPr lang="en-US" smtClean="0"/>
              <a:pPr/>
              <a:t>11</a:t>
            </a:fld>
            <a:endParaRPr lang="en-US"/>
          </a:p>
        </p:txBody>
      </p:sp>
    </p:spTree>
    <p:extLst>
      <p:ext uri="{BB962C8B-B14F-4D97-AF65-F5344CB8AC3E}">
        <p14:creationId xmlns:p14="http://schemas.microsoft.com/office/powerpoint/2010/main" val="1160116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4F7A1-E893-4A24-1E9F-3D8C4E6A0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5ED13-8A88-3550-3325-F04BC626EF14}"/>
              </a:ext>
            </a:extLst>
          </p:cNvPr>
          <p:cNvSpPr>
            <a:spLocks noGrp="1"/>
          </p:cNvSpPr>
          <p:nvPr>
            <p:ph type="title"/>
          </p:nvPr>
        </p:nvSpPr>
        <p:spPr>
          <a:xfrm>
            <a:off x="311700" y="0"/>
            <a:ext cx="8520600" cy="763500"/>
          </a:xfrm>
        </p:spPr>
        <p:txBody>
          <a:bodyPr/>
          <a:lstStyle/>
          <a:p>
            <a:r>
              <a:rPr lang="en-US" sz="4000" dirty="0">
                <a:latin typeface="Times New Roman" panose="02020603050405020304" pitchFamily="18" charset="0"/>
                <a:cs typeface="Times New Roman" panose="02020603050405020304" pitchFamily="18" charset="0"/>
              </a:rPr>
              <a:t>RESULTS</a:t>
            </a:r>
            <a:endParaRPr lang="en-IN" sz="40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6EFF0BBB-08AF-71C1-9764-5DAB6FC8922A}"/>
              </a:ext>
            </a:extLst>
          </p:cNvPr>
          <p:cNvPicPr>
            <a:picLocks noGrp="1" noChangeAspect="1"/>
          </p:cNvPicPr>
          <p:nvPr>
            <p:ph idx="1"/>
          </p:nvPr>
        </p:nvPicPr>
        <p:blipFill>
          <a:blip r:embed="rId2"/>
          <a:stretch>
            <a:fillRect/>
          </a:stretch>
        </p:blipFill>
        <p:spPr>
          <a:xfrm>
            <a:off x="4384147" y="2490025"/>
            <a:ext cx="3112208" cy="1842511"/>
          </a:xfrm>
        </p:spPr>
      </p:pic>
      <p:sp>
        <p:nvSpPr>
          <p:cNvPr id="4" name="Slide Number Placeholder 3">
            <a:extLst>
              <a:ext uri="{FF2B5EF4-FFF2-40B4-BE49-F238E27FC236}">
                <a16:creationId xmlns:a16="http://schemas.microsoft.com/office/drawing/2014/main" id="{DF93244B-601C-6608-A61C-C81125E0F8C3}"/>
              </a:ext>
            </a:extLst>
          </p:cNvPr>
          <p:cNvSpPr>
            <a:spLocks noGrp="1"/>
          </p:cNvSpPr>
          <p:nvPr>
            <p:ph type="sldNum" sz="quarter" idx="12"/>
          </p:nvPr>
        </p:nvSpPr>
        <p:spPr/>
        <p:txBody>
          <a:bodyPr/>
          <a:lstStyle/>
          <a:p>
            <a:fld id="{DB8F001F-BD0A-4A1E-A4B7-0CFB6AE101E0}" type="slidenum">
              <a:rPr lang="en-US" smtClean="0"/>
              <a:pPr/>
              <a:t>12</a:t>
            </a:fld>
            <a:endParaRPr lang="en-US"/>
          </a:p>
        </p:txBody>
      </p:sp>
      <p:pic>
        <p:nvPicPr>
          <p:cNvPr id="8" name="Picture 7">
            <a:extLst>
              <a:ext uri="{FF2B5EF4-FFF2-40B4-BE49-F238E27FC236}">
                <a16:creationId xmlns:a16="http://schemas.microsoft.com/office/drawing/2014/main" id="{16E1D3C9-213B-0306-698C-EA164E824A08}"/>
              </a:ext>
            </a:extLst>
          </p:cNvPr>
          <p:cNvPicPr>
            <a:picLocks noChangeAspect="1"/>
          </p:cNvPicPr>
          <p:nvPr/>
        </p:nvPicPr>
        <p:blipFill>
          <a:blip r:embed="rId3"/>
          <a:stretch>
            <a:fillRect/>
          </a:stretch>
        </p:blipFill>
        <p:spPr>
          <a:xfrm>
            <a:off x="4384147" y="4462539"/>
            <a:ext cx="3112208" cy="1644534"/>
          </a:xfrm>
          <a:prstGeom prst="rect">
            <a:avLst/>
          </a:prstGeom>
        </p:spPr>
      </p:pic>
      <p:pic>
        <p:nvPicPr>
          <p:cNvPr id="10" name="Picture 9">
            <a:extLst>
              <a:ext uri="{FF2B5EF4-FFF2-40B4-BE49-F238E27FC236}">
                <a16:creationId xmlns:a16="http://schemas.microsoft.com/office/drawing/2014/main" id="{D4BFF81F-E01B-C540-CDA2-E830230DB07C}"/>
              </a:ext>
            </a:extLst>
          </p:cNvPr>
          <p:cNvPicPr>
            <a:picLocks noChangeAspect="1"/>
          </p:cNvPicPr>
          <p:nvPr/>
        </p:nvPicPr>
        <p:blipFill>
          <a:blip r:embed="rId4"/>
          <a:stretch>
            <a:fillRect/>
          </a:stretch>
        </p:blipFill>
        <p:spPr>
          <a:xfrm>
            <a:off x="1086928" y="4392701"/>
            <a:ext cx="3040030" cy="1701798"/>
          </a:xfrm>
          <a:prstGeom prst="rect">
            <a:avLst/>
          </a:prstGeom>
        </p:spPr>
      </p:pic>
      <p:pic>
        <p:nvPicPr>
          <p:cNvPr id="12" name="Picture 11">
            <a:extLst>
              <a:ext uri="{FF2B5EF4-FFF2-40B4-BE49-F238E27FC236}">
                <a16:creationId xmlns:a16="http://schemas.microsoft.com/office/drawing/2014/main" id="{502B943E-ACAE-E057-A157-86D37BEA1D09}"/>
              </a:ext>
            </a:extLst>
          </p:cNvPr>
          <p:cNvPicPr>
            <a:picLocks noChangeAspect="1"/>
          </p:cNvPicPr>
          <p:nvPr/>
        </p:nvPicPr>
        <p:blipFill>
          <a:blip r:embed="rId5"/>
          <a:stretch>
            <a:fillRect/>
          </a:stretch>
        </p:blipFill>
        <p:spPr>
          <a:xfrm>
            <a:off x="994123" y="2525463"/>
            <a:ext cx="3213481" cy="1807073"/>
          </a:xfrm>
          <a:prstGeom prst="rect">
            <a:avLst/>
          </a:prstGeom>
        </p:spPr>
      </p:pic>
      <p:pic>
        <p:nvPicPr>
          <p:cNvPr id="14" name="Picture 13">
            <a:extLst>
              <a:ext uri="{FF2B5EF4-FFF2-40B4-BE49-F238E27FC236}">
                <a16:creationId xmlns:a16="http://schemas.microsoft.com/office/drawing/2014/main" id="{8A150F1E-4AF6-9405-5214-2D538A82A884}"/>
              </a:ext>
            </a:extLst>
          </p:cNvPr>
          <p:cNvPicPr>
            <a:picLocks noChangeAspect="1"/>
          </p:cNvPicPr>
          <p:nvPr/>
        </p:nvPicPr>
        <p:blipFill>
          <a:blip r:embed="rId6"/>
          <a:stretch>
            <a:fillRect/>
          </a:stretch>
        </p:blipFill>
        <p:spPr>
          <a:xfrm>
            <a:off x="4384147" y="658224"/>
            <a:ext cx="2858149" cy="1701798"/>
          </a:xfrm>
          <a:prstGeom prst="rect">
            <a:avLst/>
          </a:prstGeom>
        </p:spPr>
      </p:pic>
      <p:pic>
        <p:nvPicPr>
          <p:cNvPr id="16" name="Picture 15">
            <a:extLst>
              <a:ext uri="{FF2B5EF4-FFF2-40B4-BE49-F238E27FC236}">
                <a16:creationId xmlns:a16="http://schemas.microsoft.com/office/drawing/2014/main" id="{831D2167-079E-C2D6-7DB7-696030F6BB57}"/>
              </a:ext>
            </a:extLst>
          </p:cNvPr>
          <p:cNvPicPr>
            <a:picLocks noChangeAspect="1"/>
          </p:cNvPicPr>
          <p:nvPr/>
        </p:nvPicPr>
        <p:blipFill>
          <a:blip r:embed="rId7"/>
          <a:stretch>
            <a:fillRect/>
          </a:stretch>
        </p:blipFill>
        <p:spPr>
          <a:xfrm>
            <a:off x="1086928" y="619725"/>
            <a:ext cx="3027872" cy="1807074"/>
          </a:xfrm>
          <a:prstGeom prst="rect">
            <a:avLst/>
          </a:prstGeom>
        </p:spPr>
      </p:pic>
    </p:spTree>
    <p:extLst>
      <p:ext uri="{BB962C8B-B14F-4D97-AF65-F5344CB8AC3E}">
        <p14:creationId xmlns:p14="http://schemas.microsoft.com/office/powerpoint/2010/main" val="2469510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C187C-3850-2A58-74D3-4BAC82E92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16AE1-B327-7FD0-9125-A0D6A56953AC}"/>
              </a:ext>
            </a:extLst>
          </p:cNvPr>
          <p:cNvSpPr>
            <a:spLocks noGrp="1"/>
          </p:cNvSpPr>
          <p:nvPr>
            <p:ph type="title"/>
          </p:nvPr>
        </p:nvSpPr>
        <p:spPr/>
        <p:txBody>
          <a:bodyPr/>
          <a:lstStyle/>
          <a:p>
            <a:r>
              <a:rPr lang="en-IN" sz="36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65169FE3-924E-6166-5575-66583C4DFE89}"/>
              </a:ext>
            </a:extLst>
          </p:cNvPr>
          <p:cNvSpPr>
            <a:spLocks noGrp="1"/>
          </p:cNvSpPr>
          <p:nvPr>
            <p:ph idx="1"/>
          </p:nvPr>
        </p:nvSpPr>
        <p:spPr/>
        <p:txBody>
          <a:bodyPr/>
          <a:lstStyle/>
          <a:p>
            <a:r>
              <a:rPr lang="en-US" sz="2400" b="1" dirty="0" err="1"/>
              <a:t>MahaKrishi</a:t>
            </a:r>
            <a:r>
              <a:rPr lang="en-US" sz="2400" dirty="0"/>
              <a:t> helps farmers make better farming decisions using AI. It gives information about crops, weather, soil, and market prices in one place.</a:t>
            </a:r>
          </a:p>
          <a:p>
            <a:r>
              <a:rPr lang="en-US" sz="2400" dirty="0"/>
              <a:t>The system aims to improve crop growth and save farmers’ time and effort. In the future, it can become more helpful with features like voice support, mobile access, and regional languages  making farming smarter and easier for everyone.</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FF49621-DAFB-5A23-CB29-75ABB4263F34}"/>
              </a:ext>
            </a:extLst>
          </p:cNvPr>
          <p:cNvSpPr>
            <a:spLocks noGrp="1"/>
          </p:cNvSpPr>
          <p:nvPr>
            <p:ph type="sldNum" sz="quarter" idx="12"/>
          </p:nvPr>
        </p:nvSpPr>
        <p:spPr/>
        <p:txBody>
          <a:bodyPr/>
          <a:lstStyle/>
          <a:p>
            <a:fld id="{DB8F001F-BD0A-4A1E-A4B7-0CFB6AE101E0}" type="slidenum">
              <a:rPr lang="en-US" smtClean="0"/>
              <a:pPr/>
              <a:t>13</a:t>
            </a:fld>
            <a:endParaRPr lang="en-US"/>
          </a:p>
        </p:txBody>
      </p:sp>
    </p:spTree>
    <p:extLst>
      <p:ext uri="{BB962C8B-B14F-4D97-AF65-F5344CB8AC3E}">
        <p14:creationId xmlns:p14="http://schemas.microsoft.com/office/powerpoint/2010/main" val="3806583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BB828-1033-8785-EDDD-FBD4FC1EF5FA}"/>
              </a:ext>
            </a:extLst>
          </p:cNvPr>
          <p:cNvSpPr>
            <a:spLocks noGrp="1"/>
          </p:cNvSpPr>
          <p:nvPr>
            <p:ph type="title"/>
          </p:nvPr>
        </p:nvSpPr>
        <p:spPr>
          <a:xfrm>
            <a:off x="226208" y="258627"/>
            <a:ext cx="8520600" cy="763500"/>
          </a:xfrm>
        </p:spPr>
        <p:txBody>
          <a:bodyPr/>
          <a:lstStyle/>
          <a:p>
            <a:r>
              <a:rPr lang="en-US" sz="4800" dirty="0">
                <a:latin typeface="Times New Roman" panose="02020603050405020304" pitchFamily="18" charset="0"/>
                <a:cs typeface="Times New Roman" panose="02020603050405020304" pitchFamily="18" charset="0"/>
              </a:rPr>
              <a:t>References:</a:t>
            </a:r>
            <a:endParaRPr lang="en-IN"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01CA023-A511-4E55-9784-B245F13C8D80}"/>
              </a:ext>
            </a:extLst>
          </p:cNvPr>
          <p:cNvSpPr>
            <a:spLocks noGrp="1"/>
          </p:cNvSpPr>
          <p:nvPr>
            <p:ph idx="1"/>
          </p:nvPr>
        </p:nvSpPr>
        <p:spPr>
          <a:xfrm>
            <a:off x="457200" y="1166018"/>
            <a:ext cx="8229600" cy="4525963"/>
          </a:xfrm>
        </p:spPr>
        <p:txBody>
          <a:bodyPr/>
          <a:lstStyle/>
          <a:p>
            <a:r>
              <a:rPr lang="en-US" sz="1200" dirty="0"/>
              <a:t>[1] X. Li and Y. Zhang, “Smart Agriculture: A Literature Review,” </a:t>
            </a:r>
            <a:r>
              <a:rPr lang="en-US" sz="1200" i="1" dirty="0"/>
              <a:t>Smart Agricultural Technology</a:t>
            </a:r>
            <a:r>
              <a:rPr lang="en-US" sz="1200" dirty="0"/>
              <a:t>, vol. 2, 2022. [Online]. Available: </a:t>
            </a:r>
            <a:r>
              <a:rPr lang="en-US" sz="1200" dirty="0">
                <a:hlinkClick r:id="rId2"/>
              </a:rPr>
              <a:t>https://doi.org/10.1016/j.atech.2022.100009</a:t>
            </a:r>
            <a:endParaRPr lang="en-US" sz="1200" dirty="0"/>
          </a:p>
          <a:p>
            <a:endParaRPr lang="en-US" sz="1200" dirty="0"/>
          </a:p>
          <a:p>
            <a:r>
              <a:rPr lang="en-US" sz="1200" dirty="0"/>
              <a:t>[2] J. Wang, C. Chen, and R. Liu, “Agricultural Product Price Forecasting Methods: A Review,” </a:t>
            </a:r>
            <a:r>
              <a:rPr lang="en-US" sz="1200" i="1" dirty="0"/>
              <a:t>Agriculture</a:t>
            </a:r>
            <a:r>
              <a:rPr lang="en-US" sz="1200" dirty="0"/>
              <a:t>, vol. 13, no. 9, 2023. [Online]. Available: </a:t>
            </a:r>
            <a:r>
              <a:rPr lang="en-US" sz="1200" dirty="0">
                <a:hlinkClick r:id="rId3"/>
              </a:rPr>
              <a:t>https://doi.org/10.3390/agriculture13091671</a:t>
            </a:r>
            <a:endParaRPr lang="en-US" sz="1200" dirty="0"/>
          </a:p>
          <a:p>
            <a:endParaRPr lang="en-US" sz="1200" dirty="0"/>
          </a:p>
          <a:p>
            <a:r>
              <a:rPr lang="en-US" sz="1200" dirty="0"/>
              <a:t>[3] R. Sharma and P. Singh, “Enhancing Agricultural Commodity Price Forecasting with Deep Learning,” </a:t>
            </a:r>
            <a:r>
              <a:rPr lang="en-US" sz="1200" i="1" dirty="0"/>
              <a:t>Scientific Reports</a:t>
            </a:r>
            <a:r>
              <a:rPr lang="en-US" sz="1200" dirty="0"/>
              <a:t>, vol. 15, no. 102, 2025. [Online]. Available: </a:t>
            </a:r>
            <a:r>
              <a:rPr lang="en-US" sz="1200" dirty="0">
                <a:hlinkClick r:id="rId4"/>
              </a:rPr>
              <a:t>https://doi.org/10.1038/s41598-025-05103-z</a:t>
            </a:r>
            <a:endParaRPr lang="en-US" sz="1200" dirty="0"/>
          </a:p>
          <a:p>
            <a:endParaRPr lang="en-US" sz="1200" dirty="0"/>
          </a:p>
          <a:p>
            <a:r>
              <a:rPr lang="en-US" sz="1200" dirty="0"/>
              <a:t>[4] “</a:t>
            </a:r>
            <a:r>
              <a:rPr lang="en-US" sz="1200" dirty="0" err="1"/>
              <a:t>eNAM</a:t>
            </a:r>
            <a:r>
              <a:rPr lang="en-US" sz="1200" dirty="0"/>
              <a:t>: Electronic National Agriculture Market,” </a:t>
            </a:r>
            <a:r>
              <a:rPr lang="en-US" sz="1200" i="1" dirty="0"/>
              <a:t>Government of India, Ministry of Agriculture and Farmers Welfare</a:t>
            </a:r>
            <a:r>
              <a:rPr lang="en-US" sz="1200" dirty="0"/>
              <a:t>. [Online]. Available: </a:t>
            </a:r>
            <a:r>
              <a:rPr lang="en-US" sz="1200" dirty="0">
                <a:hlinkClick r:id="rId5"/>
              </a:rPr>
              <a:t>https://www.enam.gov.in/</a:t>
            </a:r>
            <a:endParaRPr lang="en-US" sz="1200" dirty="0"/>
          </a:p>
          <a:p>
            <a:endParaRPr lang="en-US" sz="1200" dirty="0"/>
          </a:p>
          <a:p>
            <a:r>
              <a:rPr lang="en-US" sz="1200" dirty="0"/>
              <a:t>[5] F. Pedregosa, G. </a:t>
            </a:r>
            <a:r>
              <a:rPr lang="en-US" sz="1200" dirty="0" err="1"/>
              <a:t>Varoquaux</a:t>
            </a:r>
            <a:r>
              <a:rPr lang="en-US" sz="1200" dirty="0"/>
              <a:t>, A. </a:t>
            </a:r>
            <a:r>
              <a:rPr lang="en-US" sz="1200" dirty="0" err="1"/>
              <a:t>Gramfort</a:t>
            </a:r>
            <a:r>
              <a:rPr lang="en-US" sz="1200" dirty="0"/>
              <a:t>, et al., “Scikit-learn: Machine Learning in Python,” </a:t>
            </a:r>
            <a:r>
              <a:rPr lang="en-US" sz="1200" i="1" dirty="0"/>
              <a:t>Journal of Machine Learning Research</a:t>
            </a:r>
            <a:r>
              <a:rPr lang="en-US" sz="1200" dirty="0"/>
              <a:t>, vol. 12, pp. 2825–2830, 2012. [Online]. Available: </a:t>
            </a:r>
            <a:r>
              <a:rPr lang="en-US" sz="1200" dirty="0">
                <a:hlinkClick r:id="rId6"/>
              </a:rPr>
              <a:t>https://scikit-learn.org/</a:t>
            </a:r>
            <a:endParaRPr lang="en-US" sz="1200" dirty="0"/>
          </a:p>
          <a:p>
            <a:endParaRPr lang="en-US" sz="1200" dirty="0"/>
          </a:p>
          <a:p>
            <a:r>
              <a:rPr lang="en-US" sz="1200" dirty="0"/>
              <a:t>[6] “API Documentation | TensorFlow,” </a:t>
            </a:r>
            <a:r>
              <a:rPr lang="en-US" sz="1200" i="1" dirty="0"/>
              <a:t>TensorFlow</a:t>
            </a:r>
            <a:r>
              <a:rPr lang="en-US" sz="1200" dirty="0"/>
              <a:t>. [Online]. Available: </a:t>
            </a:r>
            <a:r>
              <a:rPr lang="en-US" sz="1200" dirty="0">
                <a:hlinkClick r:id="rId7"/>
              </a:rPr>
              <a:t>https://www.tensorflow.org/api_docs</a:t>
            </a:r>
            <a:endParaRPr lang="en-US" sz="1200" dirty="0"/>
          </a:p>
          <a:p>
            <a:endParaRPr lang="en-US" sz="1200" dirty="0"/>
          </a:p>
          <a:p>
            <a:r>
              <a:rPr lang="en-US" sz="1200" dirty="0"/>
              <a:t>[7] “</a:t>
            </a:r>
            <a:r>
              <a:rPr lang="en-US" sz="1200" dirty="0" err="1"/>
              <a:t>OpenWeatherMap</a:t>
            </a:r>
            <a:r>
              <a:rPr lang="en-US" sz="1200" dirty="0"/>
              <a:t> API Guide,” </a:t>
            </a:r>
            <a:r>
              <a:rPr lang="en-US" sz="1200" i="1" dirty="0" err="1"/>
              <a:t>OpenWeatherMap</a:t>
            </a:r>
            <a:r>
              <a:rPr lang="en-US" sz="1200" dirty="0"/>
              <a:t>. [Online]. Available: </a:t>
            </a:r>
            <a:r>
              <a:rPr lang="en-US" sz="1200" dirty="0">
                <a:hlinkClick r:id="rId8"/>
              </a:rPr>
              <a:t>https://openweathermap.org/guide</a:t>
            </a:r>
            <a:endParaRPr lang="en-US" sz="1200" dirty="0"/>
          </a:p>
          <a:p>
            <a:endParaRPr lang="en-US" sz="1200" dirty="0"/>
          </a:p>
          <a:p>
            <a:r>
              <a:rPr lang="en-US" sz="1200" dirty="0"/>
              <a:t>[8] “How to Build Object Detection APIs Using TensorFlow and Flask,” </a:t>
            </a:r>
            <a:r>
              <a:rPr lang="en-US" sz="1200" i="1" dirty="0"/>
              <a:t>YouTube Tutorial</a:t>
            </a:r>
            <a:r>
              <a:rPr lang="en-US" sz="1200" dirty="0"/>
              <a:t>, 2024. [Online]. Available: </a:t>
            </a:r>
            <a:r>
              <a:rPr lang="en-US" sz="1200" dirty="0">
                <a:hlinkClick r:id="rId9"/>
              </a:rPr>
              <a:t>https://www.youtube.com/watch?v=_UqmgHKdntU</a:t>
            </a:r>
            <a:endParaRPr lang="en-US" sz="1200" dirty="0"/>
          </a:p>
          <a:p>
            <a:endParaRPr lang="en-US" sz="1200" dirty="0"/>
          </a:p>
          <a:p>
            <a:r>
              <a:rPr lang="en-US" sz="1200" dirty="0"/>
              <a:t>[9] “Kaggle Datasets for Agriculture,” </a:t>
            </a:r>
            <a:r>
              <a:rPr lang="en-US" sz="1200" i="1" dirty="0"/>
              <a:t>Kaggle</a:t>
            </a:r>
            <a:r>
              <a:rPr lang="en-US" sz="1200" dirty="0"/>
              <a:t>. [Online]. Available: https://www.kaggle.com/datasets</a:t>
            </a:r>
          </a:p>
          <a:p>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A429BF-47AC-9E1C-0F4F-03F7E6FE6C11}"/>
              </a:ext>
            </a:extLst>
          </p:cNvPr>
          <p:cNvSpPr>
            <a:spLocks noGrp="1"/>
          </p:cNvSpPr>
          <p:nvPr>
            <p:ph type="sldNum" sz="quarter" idx="12"/>
          </p:nvPr>
        </p:nvSpPr>
        <p:spPr/>
        <p:txBody>
          <a:bodyPr/>
          <a:lstStyle/>
          <a:p>
            <a:fld id="{DB8F001F-BD0A-4A1E-A4B7-0CFB6AE101E0}" type="slidenum">
              <a:rPr lang="en-US" smtClean="0"/>
              <a:pPr/>
              <a:t>14</a:t>
            </a:fld>
            <a:endParaRPr lang="en-US"/>
          </a:p>
        </p:txBody>
      </p:sp>
    </p:spTree>
    <p:extLst>
      <p:ext uri="{BB962C8B-B14F-4D97-AF65-F5344CB8AC3E}">
        <p14:creationId xmlns:p14="http://schemas.microsoft.com/office/powerpoint/2010/main" val="2247905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6EF912F8978D44C9CA467883E6E6FAF" ma:contentTypeVersion="10" ma:contentTypeDescription="Create a new document." ma:contentTypeScope="" ma:versionID="12a382276845e37ddbd2a61fa93d6b24">
  <xsd:schema xmlns:xsd="http://www.w3.org/2001/XMLSchema" xmlns:xs="http://www.w3.org/2001/XMLSchema" xmlns:p="http://schemas.microsoft.com/office/2006/metadata/properties" xmlns:ns3="88c5286f-10e0-47e2-92e4-fc6b496e87c7" targetNamespace="http://schemas.microsoft.com/office/2006/metadata/properties" ma:root="true" ma:fieldsID="3b4829f9f08bf2b82322545ae1f4d6f9" ns3:_="">
    <xsd:import namespace="88c5286f-10e0-47e2-92e4-fc6b496e87c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c5286f-10e0-47e2-92e4-fc6b496e87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8c5286f-10e0-47e2-92e4-fc6b496e87c7" xsi:nil="true"/>
  </documentManagement>
</p:properties>
</file>

<file path=customXml/itemProps1.xml><?xml version="1.0" encoding="utf-8"?>
<ds:datastoreItem xmlns:ds="http://schemas.openxmlformats.org/officeDocument/2006/customXml" ds:itemID="{34216331-7F46-47BB-883C-0B705E79BC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c5286f-10e0-47e2-92e4-fc6b496e87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4E70091-41B8-45CF-8934-17CE99D72B7D}">
  <ds:schemaRefs>
    <ds:schemaRef ds:uri="http://schemas.microsoft.com/sharepoint/v3/contenttype/forms"/>
  </ds:schemaRefs>
</ds:datastoreItem>
</file>

<file path=customXml/itemProps3.xml><?xml version="1.0" encoding="utf-8"?>
<ds:datastoreItem xmlns:ds="http://schemas.openxmlformats.org/officeDocument/2006/customXml" ds:itemID="{BC163BF3-14CB-433F-BEA6-DF7C8F703B0D}">
  <ds:schemaRefs>
    <ds:schemaRef ds:uri="http://schemas.microsoft.com/office/2006/metadata/properties"/>
    <ds:schemaRef ds:uri="http://purl.org/dc/dcmitype/"/>
    <ds:schemaRef ds:uri="http://www.w3.org/XML/1998/namespace"/>
    <ds:schemaRef ds:uri="http://schemas.microsoft.com/office/2006/documentManagement/types"/>
    <ds:schemaRef ds:uri="http://schemas.microsoft.com/office/infopath/2007/PartnerControls"/>
    <ds:schemaRef ds:uri="http://purl.org/dc/terms/"/>
    <ds:schemaRef ds:uri="http://purl.org/dc/elements/1.1/"/>
    <ds:schemaRef ds:uri="http://schemas.openxmlformats.org/package/2006/metadata/core-properties"/>
    <ds:schemaRef ds:uri="88c5286f-10e0-47e2-92e4-fc6b496e87c7"/>
  </ds:schemaRefs>
</ds:datastoreItem>
</file>

<file path=docProps/app.xml><?xml version="1.0" encoding="utf-8"?>
<Properties xmlns="http://schemas.openxmlformats.org/officeDocument/2006/extended-properties" xmlns:vt="http://schemas.openxmlformats.org/officeDocument/2006/docPropsVTypes">
  <Template/>
  <TotalTime>3220</TotalTime>
  <Words>1855</Words>
  <Application>Microsoft Office PowerPoint</Application>
  <PresentationFormat>On-screen Show (4:3)</PresentationFormat>
  <Paragraphs>132</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Aharoni</vt:lpstr>
      <vt:lpstr>Arial</vt:lpstr>
      <vt:lpstr>Times New Roman</vt:lpstr>
      <vt:lpstr>Simple Light</vt:lpstr>
      <vt:lpstr>MAHAKRISHI</vt:lpstr>
      <vt:lpstr>Introduction:</vt:lpstr>
      <vt:lpstr>Motivation:</vt:lpstr>
      <vt:lpstr>Problem Statement</vt:lpstr>
      <vt:lpstr>Objectives </vt:lpstr>
      <vt:lpstr>Literature Survey </vt:lpstr>
      <vt:lpstr>PROPOSED SYSTEM</vt:lpstr>
      <vt:lpstr>ARCHITECTURE</vt:lpstr>
      <vt:lpstr>ALGORITHM</vt:lpstr>
      <vt:lpstr>Methodology</vt:lpstr>
      <vt:lpstr>FUTURE SCOPE</vt:lpstr>
      <vt:lpstr>RESULTS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Capital Budgeting - Part III (NPV)</dc:title>
  <dc:creator>Prasad Balan Iyer</dc:creator>
  <cp:lastModifiedBy>PATIL VIVEK DIGAMBER</cp:lastModifiedBy>
  <cp:revision>147</cp:revision>
  <dcterms:modified xsi:type="dcterms:W3CDTF">2025-10-16T19:25:02Z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0x010100C6EF912F8978D44C9CA467883E6E6FAF</vt:lpwstr>
  </property>
</Properties>
</file>